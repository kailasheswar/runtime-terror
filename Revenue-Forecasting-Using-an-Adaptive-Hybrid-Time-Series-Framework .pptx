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2" d="100"/>
          <a:sy n="92" d="100"/>
        </p:scale>
        <p:origin x="528" y="3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4286250" cy="64293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93716" y="1741519"/>
            <a:ext cx="5762625" cy="17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93716" y="3737483"/>
            <a:ext cx="5401309" cy="873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11430000" cy="2209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1346" y="465169"/>
            <a:ext cx="8169819" cy="1040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8249" y="1454911"/>
            <a:ext cx="5730875" cy="398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5"/>
              </a:spcBef>
            </a:pPr>
            <a:r>
              <a:rPr spc="-300" dirty="0"/>
              <a:t>Revenue</a:t>
            </a:r>
            <a:r>
              <a:rPr spc="-80" dirty="0"/>
              <a:t> </a:t>
            </a:r>
            <a:r>
              <a:rPr spc="-250" dirty="0"/>
              <a:t>Forecasting</a:t>
            </a:r>
            <a:r>
              <a:rPr spc="-70" dirty="0"/>
              <a:t> </a:t>
            </a:r>
            <a:r>
              <a:rPr spc="-180" dirty="0"/>
              <a:t>Using </a:t>
            </a:r>
            <a:r>
              <a:rPr spc="-260" dirty="0"/>
              <a:t>an</a:t>
            </a:r>
            <a:r>
              <a:rPr spc="-100" dirty="0"/>
              <a:t> </a:t>
            </a:r>
            <a:r>
              <a:rPr spc="-235" dirty="0"/>
              <a:t>Adaptive</a:t>
            </a:r>
            <a:r>
              <a:rPr spc="-105" dirty="0"/>
              <a:t> </a:t>
            </a:r>
            <a:r>
              <a:rPr spc="-280" dirty="0"/>
              <a:t>Hybrid</a:t>
            </a:r>
            <a:r>
              <a:rPr spc="-100" dirty="0"/>
              <a:t> </a:t>
            </a:r>
            <a:r>
              <a:rPr spc="-20" dirty="0"/>
              <a:t>Time </a:t>
            </a:r>
            <a:r>
              <a:rPr spc="-240" dirty="0"/>
              <a:t>Series</a:t>
            </a:r>
            <a:r>
              <a:rPr spc="-85" dirty="0"/>
              <a:t> </a:t>
            </a:r>
            <a:r>
              <a:rPr spc="-365" dirty="0"/>
              <a:t>Framework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31700"/>
              </a:lnSpc>
              <a:spcBef>
                <a:spcPts val="135"/>
              </a:spcBef>
            </a:pPr>
            <a:r>
              <a:rPr sz="1400" spc="65" dirty="0"/>
              <a:t>Accurate</a:t>
            </a:r>
            <a:r>
              <a:rPr sz="1400" spc="20" dirty="0"/>
              <a:t> </a:t>
            </a:r>
            <a:r>
              <a:rPr sz="1400" spc="105" dirty="0"/>
              <a:t>30-</a:t>
            </a:r>
            <a:r>
              <a:rPr sz="1400" spc="55" dirty="0"/>
              <a:t>day</a:t>
            </a:r>
            <a:r>
              <a:rPr sz="1400" spc="20" dirty="0"/>
              <a:t> </a:t>
            </a:r>
            <a:r>
              <a:rPr sz="1400" spc="45" dirty="0"/>
              <a:t>revenue</a:t>
            </a:r>
            <a:r>
              <a:rPr sz="1400" spc="20" dirty="0"/>
              <a:t> </a:t>
            </a:r>
            <a:r>
              <a:rPr sz="1400" spc="50" dirty="0"/>
              <a:t>forecasting</a:t>
            </a:r>
            <a:r>
              <a:rPr sz="1400" spc="25" dirty="0"/>
              <a:t> </a:t>
            </a:r>
            <a:r>
              <a:rPr sz="1400" dirty="0"/>
              <a:t>for</a:t>
            </a:r>
            <a:r>
              <a:rPr sz="1400" spc="20" dirty="0"/>
              <a:t> </a:t>
            </a:r>
            <a:r>
              <a:rPr sz="1400" spc="65" dirty="0"/>
              <a:t>business</a:t>
            </a:r>
            <a:r>
              <a:rPr sz="1400" spc="20" dirty="0"/>
              <a:t> </a:t>
            </a:r>
            <a:r>
              <a:rPr sz="1400" dirty="0"/>
              <a:t>planning</a:t>
            </a:r>
            <a:r>
              <a:rPr sz="1400" spc="20" dirty="0"/>
              <a:t> </a:t>
            </a:r>
            <a:r>
              <a:rPr sz="1400" spc="25" dirty="0"/>
              <a:t>and </a:t>
            </a:r>
            <a:r>
              <a:rPr sz="1400" spc="45" dirty="0"/>
              <a:t>strategic</a:t>
            </a:r>
            <a:r>
              <a:rPr sz="1400" spc="170" dirty="0"/>
              <a:t> </a:t>
            </a:r>
            <a:r>
              <a:rPr sz="1400" spc="65" dirty="0"/>
              <a:t>decision-</a:t>
            </a:r>
            <a:r>
              <a:rPr sz="1400" dirty="0"/>
              <a:t>making</a:t>
            </a:r>
            <a:r>
              <a:rPr sz="1400" spc="170" dirty="0"/>
              <a:t> </a:t>
            </a:r>
            <a:r>
              <a:rPr sz="1400" dirty="0"/>
              <a:t>through</a:t>
            </a:r>
            <a:r>
              <a:rPr sz="1400" spc="170" dirty="0"/>
              <a:t> </a:t>
            </a:r>
            <a:r>
              <a:rPr sz="1400" dirty="0"/>
              <a:t>an</a:t>
            </a:r>
            <a:r>
              <a:rPr sz="1400" spc="170" dirty="0"/>
              <a:t> </a:t>
            </a:r>
            <a:r>
              <a:rPr sz="1400" dirty="0"/>
              <a:t>innovative</a:t>
            </a:r>
            <a:r>
              <a:rPr sz="1400" spc="170" dirty="0"/>
              <a:t> </a:t>
            </a:r>
            <a:r>
              <a:rPr sz="1400" dirty="0"/>
              <a:t>adaptive</a:t>
            </a:r>
            <a:r>
              <a:rPr sz="1400" spc="170" dirty="0"/>
              <a:t> </a:t>
            </a:r>
            <a:r>
              <a:rPr sz="1400" spc="40" dirty="0"/>
              <a:t>hybrid approach.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162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10"/>
              </a:spcBef>
            </a:pPr>
            <a:r>
              <a:rPr spc="-235" dirty="0"/>
              <a:t>Project</a:t>
            </a:r>
            <a:r>
              <a:rPr spc="-85" dirty="0"/>
              <a:t> </a:t>
            </a:r>
            <a:r>
              <a:rPr spc="-185" dirty="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9125" y="1695449"/>
            <a:ext cx="5010150" cy="2047875"/>
            <a:chOff x="619125" y="1695449"/>
            <a:chExt cx="5010150" cy="2047875"/>
          </a:xfrm>
        </p:grpSpPr>
        <p:sp>
          <p:nvSpPr>
            <p:cNvPr id="4" name="object 4"/>
            <p:cNvSpPr/>
            <p:nvPr/>
          </p:nvSpPr>
          <p:spPr>
            <a:xfrm>
              <a:off x="623887" y="1700212"/>
              <a:ext cx="5000625" cy="2038350"/>
            </a:xfrm>
            <a:custGeom>
              <a:avLst/>
              <a:gdLst/>
              <a:ahLst/>
              <a:cxnLst/>
              <a:rect l="l" t="t" r="r" b="b"/>
              <a:pathLst>
                <a:path w="5000625" h="2038350">
                  <a:moveTo>
                    <a:pt x="4947119" y="0"/>
                  </a:moveTo>
                  <a:lnTo>
                    <a:pt x="53498" y="0"/>
                  </a:lnTo>
                  <a:lnTo>
                    <a:pt x="49777" y="368"/>
                  </a:lnTo>
                  <a:lnTo>
                    <a:pt x="14113" y="19431"/>
                  </a:lnTo>
                  <a:lnTo>
                    <a:pt x="0" y="53505"/>
                  </a:lnTo>
                  <a:lnTo>
                    <a:pt x="0" y="1981085"/>
                  </a:lnTo>
                  <a:lnTo>
                    <a:pt x="0" y="1984844"/>
                  </a:lnTo>
                  <a:lnTo>
                    <a:pt x="19432" y="2024240"/>
                  </a:lnTo>
                  <a:lnTo>
                    <a:pt x="53498" y="2038350"/>
                  </a:lnTo>
                  <a:lnTo>
                    <a:pt x="4947119" y="2038350"/>
                  </a:lnTo>
                  <a:lnTo>
                    <a:pt x="4986515" y="2018919"/>
                  </a:lnTo>
                  <a:lnTo>
                    <a:pt x="5000625" y="1984844"/>
                  </a:lnTo>
                  <a:lnTo>
                    <a:pt x="5000625" y="53505"/>
                  </a:lnTo>
                  <a:lnTo>
                    <a:pt x="4981194" y="14109"/>
                  </a:lnTo>
                  <a:lnTo>
                    <a:pt x="4950841" y="368"/>
                  </a:lnTo>
                  <a:lnTo>
                    <a:pt x="4947119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3887" y="1700212"/>
              <a:ext cx="5000625" cy="2038350"/>
            </a:xfrm>
            <a:custGeom>
              <a:avLst/>
              <a:gdLst/>
              <a:ahLst/>
              <a:cxnLst/>
              <a:rect l="l" t="t" r="r" b="b"/>
              <a:pathLst>
                <a:path w="5000625" h="2038350">
                  <a:moveTo>
                    <a:pt x="0" y="1981085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7" y="49784"/>
                  </a:lnTo>
                  <a:lnTo>
                    <a:pt x="9649" y="25450"/>
                  </a:lnTo>
                  <a:lnTo>
                    <a:pt x="11737" y="22313"/>
                  </a:lnTo>
                  <a:lnTo>
                    <a:pt x="25449" y="9652"/>
                  </a:lnTo>
                  <a:lnTo>
                    <a:pt x="28575" y="7556"/>
                  </a:lnTo>
                  <a:lnTo>
                    <a:pt x="31874" y="5791"/>
                  </a:lnTo>
                  <a:lnTo>
                    <a:pt x="35346" y="4356"/>
                  </a:lnTo>
                  <a:lnTo>
                    <a:pt x="38818" y="2921"/>
                  </a:lnTo>
                  <a:lnTo>
                    <a:pt x="42401" y="1828"/>
                  </a:lnTo>
                  <a:lnTo>
                    <a:pt x="46092" y="1092"/>
                  </a:lnTo>
                  <a:lnTo>
                    <a:pt x="49777" y="368"/>
                  </a:lnTo>
                  <a:lnTo>
                    <a:pt x="53498" y="0"/>
                  </a:lnTo>
                  <a:lnTo>
                    <a:pt x="57259" y="0"/>
                  </a:lnTo>
                  <a:lnTo>
                    <a:pt x="4943360" y="0"/>
                  </a:lnTo>
                  <a:lnTo>
                    <a:pt x="4947119" y="0"/>
                  </a:lnTo>
                  <a:lnTo>
                    <a:pt x="4950841" y="368"/>
                  </a:lnTo>
                  <a:lnTo>
                    <a:pt x="4975174" y="9652"/>
                  </a:lnTo>
                  <a:lnTo>
                    <a:pt x="4978298" y="11734"/>
                  </a:lnTo>
                  <a:lnTo>
                    <a:pt x="4981194" y="14109"/>
                  </a:lnTo>
                  <a:lnTo>
                    <a:pt x="4983848" y="16764"/>
                  </a:lnTo>
                  <a:lnTo>
                    <a:pt x="4986515" y="19431"/>
                  </a:lnTo>
                  <a:lnTo>
                    <a:pt x="4988890" y="22313"/>
                  </a:lnTo>
                  <a:lnTo>
                    <a:pt x="4990973" y="25450"/>
                  </a:lnTo>
                  <a:lnTo>
                    <a:pt x="4993068" y="28575"/>
                  </a:lnTo>
                  <a:lnTo>
                    <a:pt x="5000625" y="53505"/>
                  </a:lnTo>
                  <a:lnTo>
                    <a:pt x="5000625" y="57264"/>
                  </a:lnTo>
                  <a:lnTo>
                    <a:pt x="5000625" y="1981085"/>
                  </a:lnTo>
                  <a:lnTo>
                    <a:pt x="5000625" y="1984844"/>
                  </a:lnTo>
                  <a:lnTo>
                    <a:pt x="5000256" y="1988578"/>
                  </a:lnTo>
                  <a:lnTo>
                    <a:pt x="4999520" y="1992261"/>
                  </a:lnTo>
                  <a:lnTo>
                    <a:pt x="4998783" y="1995944"/>
                  </a:lnTo>
                  <a:lnTo>
                    <a:pt x="4990973" y="2012899"/>
                  </a:lnTo>
                  <a:lnTo>
                    <a:pt x="4988890" y="2016023"/>
                  </a:lnTo>
                  <a:lnTo>
                    <a:pt x="4986515" y="2018919"/>
                  </a:lnTo>
                  <a:lnTo>
                    <a:pt x="4983848" y="2021573"/>
                  </a:lnTo>
                  <a:lnTo>
                    <a:pt x="4981194" y="2024240"/>
                  </a:lnTo>
                  <a:lnTo>
                    <a:pt x="4954536" y="2037245"/>
                  </a:lnTo>
                  <a:lnTo>
                    <a:pt x="4950841" y="2037981"/>
                  </a:lnTo>
                  <a:lnTo>
                    <a:pt x="4947119" y="2038350"/>
                  </a:lnTo>
                  <a:lnTo>
                    <a:pt x="4943360" y="2038350"/>
                  </a:lnTo>
                  <a:lnTo>
                    <a:pt x="57259" y="2038350"/>
                  </a:lnTo>
                  <a:lnTo>
                    <a:pt x="53498" y="2038350"/>
                  </a:lnTo>
                  <a:lnTo>
                    <a:pt x="49777" y="2037981"/>
                  </a:lnTo>
                  <a:lnTo>
                    <a:pt x="46092" y="2037245"/>
                  </a:lnTo>
                  <a:lnTo>
                    <a:pt x="42401" y="2036521"/>
                  </a:lnTo>
                  <a:lnTo>
                    <a:pt x="16772" y="2021573"/>
                  </a:lnTo>
                  <a:lnTo>
                    <a:pt x="14113" y="2018919"/>
                  </a:lnTo>
                  <a:lnTo>
                    <a:pt x="11737" y="2016023"/>
                  </a:lnTo>
                  <a:lnTo>
                    <a:pt x="9649" y="2012899"/>
                  </a:lnTo>
                  <a:lnTo>
                    <a:pt x="7560" y="2009775"/>
                  </a:lnTo>
                  <a:lnTo>
                    <a:pt x="5798" y="2006473"/>
                  </a:lnTo>
                  <a:lnTo>
                    <a:pt x="4361" y="2002993"/>
                  </a:lnTo>
                  <a:lnTo>
                    <a:pt x="2922" y="1999526"/>
                  </a:lnTo>
                  <a:lnTo>
                    <a:pt x="1835" y="1995944"/>
                  </a:lnTo>
                  <a:lnTo>
                    <a:pt x="1101" y="1992261"/>
                  </a:lnTo>
                  <a:lnTo>
                    <a:pt x="367" y="1988578"/>
                  </a:lnTo>
                  <a:lnTo>
                    <a:pt x="0" y="1984844"/>
                  </a:lnTo>
                  <a:lnTo>
                    <a:pt x="0" y="1981085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9625" y="1885949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271462" y="0"/>
                  </a:moveTo>
                  <a:lnTo>
                    <a:pt x="261937" y="0"/>
                  </a:lnTo>
                  <a:lnTo>
                    <a:pt x="255508" y="78"/>
                  </a:lnTo>
                  <a:lnTo>
                    <a:pt x="217157" y="3855"/>
                  </a:lnTo>
                  <a:lnTo>
                    <a:pt x="179770" y="13218"/>
                  </a:lnTo>
                  <a:lnTo>
                    <a:pt x="144167" y="27966"/>
                  </a:lnTo>
                  <a:lnTo>
                    <a:pt x="111110" y="47781"/>
                  </a:lnTo>
                  <a:lnTo>
                    <a:pt x="81323" y="72227"/>
                  </a:lnTo>
                  <a:lnTo>
                    <a:pt x="55438" y="100790"/>
                  </a:lnTo>
                  <a:lnTo>
                    <a:pt x="34031" y="132826"/>
                  </a:lnTo>
                  <a:lnTo>
                    <a:pt x="17549" y="167666"/>
                  </a:lnTo>
                  <a:lnTo>
                    <a:pt x="6366" y="204544"/>
                  </a:lnTo>
                  <a:lnTo>
                    <a:pt x="709" y="242663"/>
                  </a:lnTo>
                  <a:lnTo>
                    <a:pt x="0" y="261937"/>
                  </a:lnTo>
                  <a:lnTo>
                    <a:pt x="78" y="268364"/>
                  </a:lnTo>
                  <a:lnTo>
                    <a:pt x="3856" y="306717"/>
                  </a:lnTo>
                  <a:lnTo>
                    <a:pt x="13222" y="344101"/>
                  </a:lnTo>
                  <a:lnTo>
                    <a:pt x="27967" y="379704"/>
                  </a:lnTo>
                  <a:lnTo>
                    <a:pt x="47781" y="412764"/>
                  </a:lnTo>
                  <a:lnTo>
                    <a:pt x="72229" y="442548"/>
                  </a:lnTo>
                  <a:lnTo>
                    <a:pt x="100787" y="468435"/>
                  </a:lnTo>
                  <a:lnTo>
                    <a:pt x="132826" y="489845"/>
                  </a:lnTo>
                  <a:lnTo>
                    <a:pt x="167668" y="506321"/>
                  </a:lnTo>
                  <a:lnTo>
                    <a:pt x="204544" y="517512"/>
                  </a:lnTo>
                  <a:lnTo>
                    <a:pt x="242671" y="523162"/>
                  </a:lnTo>
                  <a:lnTo>
                    <a:pt x="261937" y="523875"/>
                  </a:lnTo>
                  <a:lnTo>
                    <a:pt x="271462" y="523875"/>
                  </a:lnTo>
                  <a:lnTo>
                    <a:pt x="309896" y="521034"/>
                  </a:lnTo>
                  <a:lnTo>
                    <a:pt x="347498" y="512597"/>
                  </a:lnTo>
                  <a:lnTo>
                    <a:pt x="383456" y="498729"/>
                  </a:lnTo>
                  <a:lnTo>
                    <a:pt x="416986" y="479729"/>
                  </a:lnTo>
                  <a:lnTo>
                    <a:pt x="447368" y="456022"/>
                  </a:lnTo>
                  <a:lnTo>
                    <a:pt x="473938" y="428104"/>
                  </a:lnTo>
                  <a:lnTo>
                    <a:pt x="496130" y="396598"/>
                  </a:lnTo>
                  <a:lnTo>
                    <a:pt x="513461" y="362178"/>
                  </a:lnTo>
                  <a:lnTo>
                    <a:pt x="525551" y="325583"/>
                  </a:lnTo>
                  <a:lnTo>
                    <a:pt x="532142" y="287616"/>
                  </a:lnTo>
                  <a:lnTo>
                    <a:pt x="533400" y="261937"/>
                  </a:lnTo>
                  <a:lnTo>
                    <a:pt x="533321" y="255503"/>
                  </a:lnTo>
                  <a:lnTo>
                    <a:pt x="529547" y="217157"/>
                  </a:lnTo>
                  <a:lnTo>
                    <a:pt x="520181" y="179768"/>
                  </a:lnTo>
                  <a:lnTo>
                    <a:pt x="505427" y="144165"/>
                  </a:lnTo>
                  <a:lnTo>
                    <a:pt x="485618" y="111110"/>
                  </a:lnTo>
                  <a:lnTo>
                    <a:pt x="461172" y="81318"/>
                  </a:lnTo>
                  <a:lnTo>
                    <a:pt x="432612" y="55439"/>
                  </a:lnTo>
                  <a:lnTo>
                    <a:pt x="400573" y="34027"/>
                  </a:lnTo>
                  <a:lnTo>
                    <a:pt x="365731" y="17548"/>
                  </a:lnTo>
                  <a:lnTo>
                    <a:pt x="328855" y="6362"/>
                  </a:lnTo>
                  <a:lnTo>
                    <a:pt x="290728" y="707"/>
                  </a:lnTo>
                  <a:lnTo>
                    <a:pt x="271462" y="0"/>
                  </a:lnTo>
                  <a:close/>
                </a:path>
              </a:pathLst>
            </a:custGeom>
            <a:solidFill>
              <a:srgbClr val="007E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5394" y="2023371"/>
              <a:ext cx="233377" cy="2499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94096" y="2555144"/>
            <a:ext cx="4018915" cy="9601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60" dirty="0">
                <a:solidFill>
                  <a:srgbClr val="262424"/>
                </a:solidFill>
                <a:latin typeface="Georgia"/>
                <a:cs typeface="Georgia"/>
              </a:rPr>
              <a:t>30-</a:t>
            </a:r>
            <a:r>
              <a:rPr sz="1800" b="1" spc="-145" dirty="0">
                <a:solidFill>
                  <a:srgbClr val="262424"/>
                </a:solidFill>
                <a:latin typeface="Georgia"/>
                <a:cs typeface="Georgia"/>
              </a:rPr>
              <a:t>Day</a:t>
            </a:r>
            <a:r>
              <a:rPr sz="1800" b="1" spc="-4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Forecast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29500"/>
              </a:lnSpc>
              <a:spcBef>
                <a:spcPts val="819"/>
              </a:spcBef>
            </a:pP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Predict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daily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revenue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next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00" dirty="0">
                <a:solidFill>
                  <a:srgbClr val="262424"/>
                </a:solidFill>
                <a:latin typeface="Tahoma"/>
                <a:cs typeface="Tahoma"/>
              </a:rPr>
              <a:t>30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days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using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historical</a:t>
            </a:r>
            <a:r>
              <a:rPr sz="1400" spc="2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62424"/>
                </a:solidFill>
                <a:latin typeface="Tahoma"/>
                <a:cs typeface="Tahoma"/>
              </a:rPr>
              <a:t>data.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00725" y="1695449"/>
            <a:ext cx="5010150" cy="2047875"/>
            <a:chOff x="5800725" y="1695449"/>
            <a:chExt cx="5010150" cy="2047875"/>
          </a:xfrm>
        </p:grpSpPr>
        <p:sp>
          <p:nvSpPr>
            <p:cNvPr id="10" name="object 10"/>
            <p:cNvSpPr/>
            <p:nvPr/>
          </p:nvSpPr>
          <p:spPr>
            <a:xfrm>
              <a:off x="5805487" y="1700212"/>
              <a:ext cx="5000625" cy="2038350"/>
            </a:xfrm>
            <a:custGeom>
              <a:avLst/>
              <a:gdLst/>
              <a:ahLst/>
              <a:cxnLst/>
              <a:rect l="l" t="t" r="r" b="b"/>
              <a:pathLst>
                <a:path w="5000625" h="2038350">
                  <a:moveTo>
                    <a:pt x="4947119" y="0"/>
                  </a:moveTo>
                  <a:lnTo>
                    <a:pt x="53505" y="0"/>
                  </a:lnTo>
                  <a:lnTo>
                    <a:pt x="49784" y="368"/>
                  </a:lnTo>
                  <a:lnTo>
                    <a:pt x="14109" y="19431"/>
                  </a:lnTo>
                  <a:lnTo>
                    <a:pt x="0" y="53505"/>
                  </a:lnTo>
                  <a:lnTo>
                    <a:pt x="0" y="1981085"/>
                  </a:lnTo>
                  <a:lnTo>
                    <a:pt x="0" y="1984844"/>
                  </a:lnTo>
                  <a:lnTo>
                    <a:pt x="19431" y="2024240"/>
                  </a:lnTo>
                  <a:lnTo>
                    <a:pt x="53505" y="2038350"/>
                  </a:lnTo>
                  <a:lnTo>
                    <a:pt x="4947119" y="2038350"/>
                  </a:lnTo>
                  <a:lnTo>
                    <a:pt x="4986515" y="2018919"/>
                  </a:lnTo>
                  <a:lnTo>
                    <a:pt x="5000625" y="1984844"/>
                  </a:lnTo>
                  <a:lnTo>
                    <a:pt x="5000625" y="53505"/>
                  </a:lnTo>
                  <a:lnTo>
                    <a:pt x="4981194" y="14109"/>
                  </a:lnTo>
                  <a:lnTo>
                    <a:pt x="4950841" y="368"/>
                  </a:lnTo>
                  <a:lnTo>
                    <a:pt x="4947119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05487" y="1700212"/>
              <a:ext cx="5000625" cy="2038350"/>
            </a:xfrm>
            <a:custGeom>
              <a:avLst/>
              <a:gdLst/>
              <a:ahLst/>
              <a:cxnLst/>
              <a:rect l="l" t="t" r="r" b="b"/>
              <a:pathLst>
                <a:path w="5000625" h="2038350">
                  <a:moveTo>
                    <a:pt x="0" y="1981085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8" y="49784"/>
                  </a:lnTo>
                  <a:lnTo>
                    <a:pt x="1104" y="46088"/>
                  </a:lnTo>
                  <a:lnTo>
                    <a:pt x="1828" y="42405"/>
                  </a:lnTo>
                  <a:lnTo>
                    <a:pt x="2921" y="38823"/>
                  </a:lnTo>
                  <a:lnTo>
                    <a:pt x="4356" y="35344"/>
                  </a:lnTo>
                  <a:lnTo>
                    <a:pt x="5791" y="31877"/>
                  </a:lnTo>
                  <a:lnTo>
                    <a:pt x="7556" y="28575"/>
                  </a:lnTo>
                  <a:lnTo>
                    <a:pt x="9652" y="25450"/>
                  </a:lnTo>
                  <a:lnTo>
                    <a:pt x="11734" y="22313"/>
                  </a:lnTo>
                  <a:lnTo>
                    <a:pt x="14109" y="19431"/>
                  </a:lnTo>
                  <a:lnTo>
                    <a:pt x="16776" y="16764"/>
                  </a:lnTo>
                  <a:lnTo>
                    <a:pt x="19431" y="14109"/>
                  </a:lnTo>
                  <a:lnTo>
                    <a:pt x="22326" y="11734"/>
                  </a:lnTo>
                  <a:lnTo>
                    <a:pt x="25450" y="9652"/>
                  </a:lnTo>
                  <a:lnTo>
                    <a:pt x="28575" y="7556"/>
                  </a:lnTo>
                  <a:lnTo>
                    <a:pt x="53505" y="0"/>
                  </a:lnTo>
                  <a:lnTo>
                    <a:pt x="57264" y="0"/>
                  </a:lnTo>
                  <a:lnTo>
                    <a:pt x="4943360" y="0"/>
                  </a:lnTo>
                  <a:lnTo>
                    <a:pt x="4947119" y="0"/>
                  </a:lnTo>
                  <a:lnTo>
                    <a:pt x="4950841" y="368"/>
                  </a:lnTo>
                  <a:lnTo>
                    <a:pt x="4975174" y="9652"/>
                  </a:lnTo>
                  <a:lnTo>
                    <a:pt x="4978298" y="11734"/>
                  </a:lnTo>
                  <a:lnTo>
                    <a:pt x="4999520" y="46088"/>
                  </a:lnTo>
                  <a:lnTo>
                    <a:pt x="5000625" y="53505"/>
                  </a:lnTo>
                  <a:lnTo>
                    <a:pt x="5000625" y="57264"/>
                  </a:lnTo>
                  <a:lnTo>
                    <a:pt x="5000625" y="1981085"/>
                  </a:lnTo>
                  <a:lnTo>
                    <a:pt x="5000625" y="1984844"/>
                  </a:lnTo>
                  <a:lnTo>
                    <a:pt x="5000256" y="1988578"/>
                  </a:lnTo>
                  <a:lnTo>
                    <a:pt x="4983848" y="2021573"/>
                  </a:lnTo>
                  <a:lnTo>
                    <a:pt x="4981194" y="2024240"/>
                  </a:lnTo>
                  <a:lnTo>
                    <a:pt x="4954536" y="2037245"/>
                  </a:lnTo>
                  <a:lnTo>
                    <a:pt x="4950841" y="2037981"/>
                  </a:lnTo>
                  <a:lnTo>
                    <a:pt x="4947119" y="2038350"/>
                  </a:lnTo>
                  <a:lnTo>
                    <a:pt x="4943360" y="2038350"/>
                  </a:lnTo>
                  <a:lnTo>
                    <a:pt x="57264" y="2038350"/>
                  </a:lnTo>
                  <a:lnTo>
                    <a:pt x="53505" y="2038350"/>
                  </a:lnTo>
                  <a:lnTo>
                    <a:pt x="49784" y="2037981"/>
                  </a:lnTo>
                  <a:lnTo>
                    <a:pt x="46088" y="2037245"/>
                  </a:lnTo>
                  <a:lnTo>
                    <a:pt x="42405" y="2036521"/>
                  </a:lnTo>
                  <a:lnTo>
                    <a:pt x="16776" y="2021573"/>
                  </a:lnTo>
                  <a:lnTo>
                    <a:pt x="14109" y="2018919"/>
                  </a:lnTo>
                  <a:lnTo>
                    <a:pt x="11734" y="2016023"/>
                  </a:lnTo>
                  <a:lnTo>
                    <a:pt x="9652" y="2012899"/>
                  </a:lnTo>
                  <a:lnTo>
                    <a:pt x="7556" y="2009775"/>
                  </a:lnTo>
                  <a:lnTo>
                    <a:pt x="5791" y="2006473"/>
                  </a:lnTo>
                  <a:lnTo>
                    <a:pt x="4356" y="2002993"/>
                  </a:lnTo>
                  <a:lnTo>
                    <a:pt x="2921" y="1999526"/>
                  </a:lnTo>
                  <a:lnTo>
                    <a:pt x="1828" y="1995944"/>
                  </a:lnTo>
                  <a:lnTo>
                    <a:pt x="1104" y="1992261"/>
                  </a:lnTo>
                  <a:lnTo>
                    <a:pt x="368" y="1988578"/>
                  </a:lnTo>
                  <a:lnTo>
                    <a:pt x="0" y="1984844"/>
                  </a:lnTo>
                  <a:lnTo>
                    <a:pt x="0" y="1981085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91225" y="1885949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271462" y="0"/>
                  </a:moveTo>
                  <a:lnTo>
                    <a:pt x="261937" y="0"/>
                  </a:lnTo>
                  <a:lnTo>
                    <a:pt x="255510" y="78"/>
                  </a:lnTo>
                  <a:lnTo>
                    <a:pt x="217157" y="3855"/>
                  </a:lnTo>
                  <a:lnTo>
                    <a:pt x="179768" y="13218"/>
                  </a:lnTo>
                  <a:lnTo>
                    <a:pt x="144165" y="27966"/>
                  </a:lnTo>
                  <a:lnTo>
                    <a:pt x="111110" y="47781"/>
                  </a:lnTo>
                  <a:lnTo>
                    <a:pt x="81318" y="72227"/>
                  </a:lnTo>
                  <a:lnTo>
                    <a:pt x="55439" y="100790"/>
                  </a:lnTo>
                  <a:lnTo>
                    <a:pt x="34027" y="132826"/>
                  </a:lnTo>
                  <a:lnTo>
                    <a:pt x="17548" y="167666"/>
                  </a:lnTo>
                  <a:lnTo>
                    <a:pt x="6362" y="204544"/>
                  </a:lnTo>
                  <a:lnTo>
                    <a:pt x="707" y="242663"/>
                  </a:lnTo>
                  <a:lnTo>
                    <a:pt x="0" y="261937"/>
                  </a:lnTo>
                  <a:lnTo>
                    <a:pt x="78" y="268364"/>
                  </a:lnTo>
                  <a:lnTo>
                    <a:pt x="3852" y="306717"/>
                  </a:lnTo>
                  <a:lnTo>
                    <a:pt x="13218" y="344101"/>
                  </a:lnTo>
                  <a:lnTo>
                    <a:pt x="27966" y="379704"/>
                  </a:lnTo>
                  <a:lnTo>
                    <a:pt x="47781" y="412764"/>
                  </a:lnTo>
                  <a:lnTo>
                    <a:pt x="72227" y="442548"/>
                  </a:lnTo>
                  <a:lnTo>
                    <a:pt x="100790" y="468435"/>
                  </a:lnTo>
                  <a:lnTo>
                    <a:pt x="132826" y="489845"/>
                  </a:lnTo>
                  <a:lnTo>
                    <a:pt x="167666" y="506321"/>
                  </a:lnTo>
                  <a:lnTo>
                    <a:pt x="204544" y="517512"/>
                  </a:lnTo>
                  <a:lnTo>
                    <a:pt x="242676" y="523162"/>
                  </a:lnTo>
                  <a:lnTo>
                    <a:pt x="261937" y="523875"/>
                  </a:lnTo>
                  <a:lnTo>
                    <a:pt x="271462" y="523875"/>
                  </a:lnTo>
                  <a:lnTo>
                    <a:pt x="309895" y="521034"/>
                  </a:lnTo>
                  <a:lnTo>
                    <a:pt x="347497" y="512597"/>
                  </a:lnTo>
                  <a:lnTo>
                    <a:pt x="383457" y="498729"/>
                  </a:lnTo>
                  <a:lnTo>
                    <a:pt x="416991" y="479729"/>
                  </a:lnTo>
                  <a:lnTo>
                    <a:pt x="447368" y="456022"/>
                  </a:lnTo>
                  <a:lnTo>
                    <a:pt x="473938" y="428104"/>
                  </a:lnTo>
                  <a:lnTo>
                    <a:pt x="496130" y="396598"/>
                  </a:lnTo>
                  <a:lnTo>
                    <a:pt x="513461" y="362178"/>
                  </a:lnTo>
                  <a:lnTo>
                    <a:pt x="525551" y="325583"/>
                  </a:lnTo>
                  <a:lnTo>
                    <a:pt x="532142" y="287616"/>
                  </a:lnTo>
                  <a:lnTo>
                    <a:pt x="533400" y="261937"/>
                  </a:lnTo>
                  <a:lnTo>
                    <a:pt x="533321" y="255503"/>
                  </a:lnTo>
                  <a:lnTo>
                    <a:pt x="529547" y="217157"/>
                  </a:lnTo>
                  <a:lnTo>
                    <a:pt x="520181" y="179768"/>
                  </a:lnTo>
                  <a:lnTo>
                    <a:pt x="505427" y="144165"/>
                  </a:lnTo>
                  <a:lnTo>
                    <a:pt x="485618" y="111110"/>
                  </a:lnTo>
                  <a:lnTo>
                    <a:pt x="461172" y="81318"/>
                  </a:lnTo>
                  <a:lnTo>
                    <a:pt x="432609" y="55439"/>
                  </a:lnTo>
                  <a:lnTo>
                    <a:pt x="400573" y="34027"/>
                  </a:lnTo>
                  <a:lnTo>
                    <a:pt x="365733" y="17548"/>
                  </a:lnTo>
                  <a:lnTo>
                    <a:pt x="328855" y="6362"/>
                  </a:lnTo>
                  <a:lnTo>
                    <a:pt x="290723" y="707"/>
                  </a:lnTo>
                  <a:lnTo>
                    <a:pt x="271462" y="0"/>
                  </a:lnTo>
                  <a:close/>
                </a:path>
              </a:pathLst>
            </a:custGeom>
            <a:solidFill>
              <a:srgbClr val="007E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8732" y="2034950"/>
              <a:ext cx="249901" cy="22691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977483" y="2555144"/>
            <a:ext cx="4353560" cy="9601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20" dirty="0">
                <a:solidFill>
                  <a:srgbClr val="262424"/>
                </a:solidFill>
                <a:latin typeface="Georgia"/>
                <a:cs typeface="Georgia"/>
              </a:rPr>
              <a:t>Model</a:t>
            </a:r>
            <a:r>
              <a:rPr sz="1800" b="1" spc="-20" dirty="0">
                <a:solidFill>
                  <a:srgbClr val="262424"/>
                </a:solidFill>
                <a:latin typeface="Georgia"/>
                <a:cs typeface="Georgia"/>
              </a:rPr>
              <a:t> Comparison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29500"/>
              </a:lnSpc>
              <a:spcBef>
                <a:spcPts val="819"/>
              </a:spcBef>
            </a:pP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Build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compare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baseline,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ARIMA,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30" dirty="0">
                <a:solidFill>
                  <a:srgbClr val="262424"/>
                </a:solidFill>
                <a:latin typeface="Tahoma"/>
                <a:cs typeface="Tahoma"/>
              </a:rPr>
              <a:t>ML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regression,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-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hybrid</a:t>
            </a:r>
            <a:r>
              <a:rPr sz="140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models.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5" y="3914775"/>
            <a:ext cx="5010150" cy="1762125"/>
            <a:chOff x="619125" y="3914775"/>
            <a:chExt cx="5010150" cy="1762125"/>
          </a:xfrm>
        </p:grpSpPr>
        <p:sp>
          <p:nvSpPr>
            <p:cNvPr id="16" name="object 16"/>
            <p:cNvSpPr/>
            <p:nvPr/>
          </p:nvSpPr>
          <p:spPr>
            <a:xfrm>
              <a:off x="623887" y="3919537"/>
              <a:ext cx="5000625" cy="1752600"/>
            </a:xfrm>
            <a:custGeom>
              <a:avLst/>
              <a:gdLst/>
              <a:ahLst/>
              <a:cxnLst/>
              <a:rect l="l" t="t" r="r" b="b"/>
              <a:pathLst>
                <a:path w="5000625" h="1752600">
                  <a:moveTo>
                    <a:pt x="4947119" y="0"/>
                  </a:moveTo>
                  <a:lnTo>
                    <a:pt x="53498" y="0"/>
                  </a:lnTo>
                  <a:lnTo>
                    <a:pt x="49777" y="368"/>
                  </a:lnTo>
                  <a:lnTo>
                    <a:pt x="14113" y="19431"/>
                  </a:lnTo>
                  <a:lnTo>
                    <a:pt x="0" y="53505"/>
                  </a:lnTo>
                  <a:lnTo>
                    <a:pt x="0" y="1695336"/>
                  </a:lnTo>
                  <a:lnTo>
                    <a:pt x="0" y="1699097"/>
                  </a:lnTo>
                  <a:lnTo>
                    <a:pt x="19432" y="1738486"/>
                  </a:lnTo>
                  <a:lnTo>
                    <a:pt x="53498" y="1752601"/>
                  </a:lnTo>
                  <a:lnTo>
                    <a:pt x="4947119" y="1752601"/>
                  </a:lnTo>
                  <a:lnTo>
                    <a:pt x="4986515" y="1733169"/>
                  </a:lnTo>
                  <a:lnTo>
                    <a:pt x="5000625" y="1699097"/>
                  </a:lnTo>
                  <a:lnTo>
                    <a:pt x="5000625" y="53505"/>
                  </a:lnTo>
                  <a:lnTo>
                    <a:pt x="4981194" y="14109"/>
                  </a:lnTo>
                  <a:lnTo>
                    <a:pt x="4950841" y="368"/>
                  </a:lnTo>
                  <a:lnTo>
                    <a:pt x="4947119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3887" y="3919537"/>
              <a:ext cx="5000625" cy="1752600"/>
            </a:xfrm>
            <a:custGeom>
              <a:avLst/>
              <a:gdLst/>
              <a:ahLst/>
              <a:cxnLst/>
              <a:rect l="l" t="t" r="r" b="b"/>
              <a:pathLst>
                <a:path w="5000625" h="1752600">
                  <a:moveTo>
                    <a:pt x="0" y="1695336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7" y="49771"/>
                  </a:lnTo>
                  <a:lnTo>
                    <a:pt x="1101" y="46088"/>
                  </a:lnTo>
                  <a:lnTo>
                    <a:pt x="1835" y="42405"/>
                  </a:lnTo>
                  <a:lnTo>
                    <a:pt x="2922" y="38823"/>
                  </a:lnTo>
                  <a:lnTo>
                    <a:pt x="4361" y="35344"/>
                  </a:lnTo>
                  <a:lnTo>
                    <a:pt x="5798" y="31877"/>
                  </a:lnTo>
                  <a:lnTo>
                    <a:pt x="7560" y="28575"/>
                  </a:lnTo>
                  <a:lnTo>
                    <a:pt x="9649" y="25450"/>
                  </a:lnTo>
                  <a:lnTo>
                    <a:pt x="11737" y="22313"/>
                  </a:lnTo>
                  <a:lnTo>
                    <a:pt x="25449" y="9652"/>
                  </a:lnTo>
                  <a:lnTo>
                    <a:pt x="28575" y="7556"/>
                  </a:lnTo>
                  <a:lnTo>
                    <a:pt x="31874" y="5791"/>
                  </a:lnTo>
                  <a:lnTo>
                    <a:pt x="35346" y="4356"/>
                  </a:lnTo>
                  <a:lnTo>
                    <a:pt x="38818" y="2921"/>
                  </a:lnTo>
                  <a:lnTo>
                    <a:pt x="42401" y="1828"/>
                  </a:lnTo>
                  <a:lnTo>
                    <a:pt x="46092" y="1092"/>
                  </a:lnTo>
                  <a:lnTo>
                    <a:pt x="49777" y="368"/>
                  </a:lnTo>
                  <a:lnTo>
                    <a:pt x="53498" y="0"/>
                  </a:lnTo>
                  <a:lnTo>
                    <a:pt x="57259" y="0"/>
                  </a:lnTo>
                  <a:lnTo>
                    <a:pt x="4943360" y="0"/>
                  </a:lnTo>
                  <a:lnTo>
                    <a:pt x="4947119" y="0"/>
                  </a:lnTo>
                  <a:lnTo>
                    <a:pt x="4950841" y="368"/>
                  </a:lnTo>
                  <a:lnTo>
                    <a:pt x="4975174" y="9652"/>
                  </a:lnTo>
                  <a:lnTo>
                    <a:pt x="4978298" y="11734"/>
                  </a:lnTo>
                  <a:lnTo>
                    <a:pt x="4981194" y="14109"/>
                  </a:lnTo>
                  <a:lnTo>
                    <a:pt x="4983848" y="16764"/>
                  </a:lnTo>
                  <a:lnTo>
                    <a:pt x="4986515" y="19431"/>
                  </a:lnTo>
                  <a:lnTo>
                    <a:pt x="4988890" y="22313"/>
                  </a:lnTo>
                  <a:lnTo>
                    <a:pt x="4990973" y="25450"/>
                  </a:lnTo>
                  <a:lnTo>
                    <a:pt x="4993068" y="28575"/>
                  </a:lnTo>
                  <a:lnTo>
                    <a:pt x="4999520" y="46088"/>
                  </a:lnTo>
                  <a:lnTo>
                    <a:pt x="5000256" y="49771"/>
                  </a:lnTo>
                  <a:lnTo>
                    <a:pt x="5000625" y="53505"/>
                  </a:lnTo>
                  <a:lnTo>
                    <a:pt x="5000625" y="57264"/>
                  </a:lnTo>
                  <a:lnTo>
                    <a:pt x="5000625" y="1695336"/>
                  </a:lnTo>
                  <a:lnTo>
                    <a:pt x="5000625" y="1699097"/>
                  </a:lnTo>
                  <a:lnTo>
                    <a:pt x="5000256" y="1702822"/>
                  </a:lnTo>
                  <a:lnTo>
                    <a:pt x="4990973" y="1727151"/>
                  </a:lnTo>
                  <a:lnTo>
                    <a:pt x="4988890" y="1730277"/>
                  </a:lnTo>
                  <a:lnTo>
                    <a:pt x="4986515" y="1733169"/>
                  </a:lnTo>
                  <a:lnTo>
                    <a:pt x="4983848" y="1735828"/>
                  </a:lnTo>
                  <a:lnTo>
                    <a:pt x="4981194" y="1738486"/>
                  </a:lnTo>
                  <a:lnTo>
                    <a:pt x="4978298" y="1740858"/>
                  </a:lnTo>
                  <a:lnTo>
                    <a:pt x="4975174" y="1742946"/>
                  </a:lnTo>
                  <a:lnTo>
                    <a:pt x="4972050" y="1745035"/>
                  </a:lnTo>
                  <a:lnTo>
                    <a:pt x="4947119" y="1752601"/>
                  </a:lnTo>
                  <a:lnTo>
                    <a:pt x="4943360" y="1752601"/>
                  </a:lnTo>
                  <a:lnTo>
                    <a:pt x="57259" y="1752601"/>
                  </a:lnTo>
                  <a:lnTo>
                    <a:pt x="53498" y="1752601"/>
                  </a:lnTo>
                  <a:lnTo>
                    <a:pt x="49777" y="1752234"/>
                  </a:lnTo>
                  <a:lnTo>
                    <a:pt x="46092" y="1751500"/>
                  </a:lnTo>
                  <a:lnTo>
                    <a:pt x="42401" y="1750764"/>
                  </a:lnTo>
                  <a:lnTo>
                    <a:pt x="38818" y="1749679"/>
                  </a:lnTo>
                  <a:lnTo>
                    <a:pt x="35346" y="1748240"/>
                  </a:lnTo>
                  <a:lnTo>
                    <a:pt x="31874" y="1746801"/>
                  </a:lnTo>
                  <a:lnTo>
                    <a:pt x="28575" y="1745035"/>
                  </a:lnTo>
                  <a:lnTo>
                    <a:pt x="25449" y="1742946"/>
                  </a:lnTo>
                  <a:lnTo>
                    <a:pt x="22324" y="1740858"/>
                  </a:lnTo>
                  <a:lnTo>
                    <a:pt x="9649" y="1727151"/>
                  </a:lnTo>
                  <a:lnTo>
                    <a:pt x="7560" y="1724026"/>
                  </a:lnTo>
                  <a:lnTo>
                    <a:pt x="5798" y="1720721"/>
                  </a:lnTo>
                  <a:lnTo>
                    <a:pt x="4361" y="1717249"/>
                  </a:lnTo>
                  <a:lnTo>
                    <a:pt x="2922" y="1713776"/>
                  </a:lnTo>
                  <a:lnTo>
                    <a:pt x="1835" y="1710194"/>
                  </a:lnTo>
                  <a:lnTo>
                    <a:pt x="1101" y="1706509"/>
                  </a:lnTo>
                  <a:lnTo>
                    <a:pt x="367" y="1702822"/>
                  </a:lnTo>
                  <a:lnTo>
                    <a:pt x="0" y="1699097"/>
                  </a:lnTo>
                  <a:lnTo>
                    <a:pt x="0" y="1695336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9625" y="410527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27566" y="2882"/>
                  </a:lnTo>
                  <a:lnTo>
                    <a:pt x="189279" y="11480"/>
                  </a:lnTo>
                  <a:lnTo>
                    <a:pt x="152669" y="25611"/>
                  </a:lnTo>
                  <a:lnTo>
                    <a:pt x="118531" y="44945"/>
                  </a:lnTo>
                  <a:lnTo>
                    <a:pt x="87595" y="69091"/>
                  </a:lnTo>
                  <a:lnTo>
                    <a:pt x="60538" y="97510"/>
                  </a:lnTo>
                  <a:lnTo>
                    <a:pt x="37943" y="129587"/>
                  </a:lnTo>
                  <a:lnTo>
                    <a:pt x="20299" y="164642"/>
                  </a:lnTo>
                  <a:lnTo>
                    <a:pt x="7992" y="201898"/>
                  </a:lnTo>
                  <a:lnTo>
                    <a:pt x="1285" y="240550"/>
                  </a:lnTo>
                  <a:lnTo>
                    <a:pt x="0" y="266700"/>
                  </a:lnTo>
                  <a:lnTo>
                    <a:pt x="80" y="273248"/>
                  </a:lnTo>
                  <a:lnTo>
                    <a:pt x="3924" y="312292"/>
                  </a:lnTo>
                  <a:lnTo>
                    <a:pt x="13461" y="350360"/>
                  </a:lnTo>
                  <a:lnTo>
                    <a:pt x="28476" y="386609"/>
                  </a:lnTo>
                  <a:lnTo>
                    <a:pt x="48650" y="420271"/>
                  </a:lnTo>
                  <a:lnTo>
                    <a:pt x="73542" y="450598"/>
                  </a:lnTo>
                  <a:lnTo>
                    <a:pt x="102619" y="476955"/>
                  </a:lnTo>
                  <a:lnTo>
                    <a:pt x="135242" y="498748"/>
                  </a:lnTo>
                  <a:lnTo>
                    <a:pt x="170718" y="515529"/>
                  </a:lnTo>
                  <a:lnTo>
                    <a:pt x="208263" y="526919"/>
                  </a:lnTo>
                  <a:lnTo>
                    <a:pt x="247083" y="532676"/>
                  </a:lnTo>
                  <a:lnTo>
                    <a:pt x="266700" y="533400"/>
                  </a:lnTo>
                  <a:lnTo>
                    <a:pt x="273247" y="533319"/>
                  </a:lnTo>
                  <a:lnTo>
                    <a:pt x="312293" y="529477"/>
                  </a:lnTo>
                  <a:lnTo>
                    <a:pt x="350362" y="519939"/>
                  </a:lnTo>
                  <a:lnTo>
                    <a:pt x="386608" y="504923"/>
                  </a:lnTo>
                  <a:lnTo>
                    <a:pt x="420268" y="484751"/>
                  </a:lnTo>
                  <a:lnTo>
                    <a:pt x="450598" y="459859"/>
                  </a:lnTo>
                  <a:lnTo>
                    <a:pt x="476955" y="430781"/>
                  </a:lnTo>
                  <a:lnTo>
                    <a:pt x="498748" y="398156"/>
                  </a:lnTo>
                  <a:lnTo>
                    <a:pt x="515534" y="362680"/>
                  </a:lnTo>
                  <a:lnTo>
                    <a:pt x="526914" y="325140"/>
                  </a:lnTo>
                  <a:lnTo>
                    <a:pt x="532676" y="286316"/>
                  </a:lnTo>
                  <a:lnTo>
                    <a:pt x="533400" y="266700"/>
                  </a:lnTo>
                  <a:lnTo>
                    <a:pt x="533319" y="260151"/>
                  </a:lnTo>
                  <a:lnTo>
                    <a:pt x="529468" y="221107"/>
                  </a:lnTo>
                  <a:lnTo>
                    <a:pt x="519940" y="183039"/>
                  </a:lnTo>
                  <a:lnTo>
                    <a:pt x="504924" y="146785"/>
                  </a:lnTo>
                  <a:lnTo>
                    <a:pt x="484751" y="113128"/>
                  </a:lnTo>
                  <a:lnTo>
                    <a:pt x="459860" y="82801"/>
                  </a:lnTo>
                  <a:lnTo>
                    <a:pt x="430780" y="56450"/>
                  </a:lnTo>
                  <a:lnTo>
                    <a:pt x="398156" y="34651"/>
                  </a:lnTo>
                  <a:lnTo>
                    <a:pt x="362681" y="17870"/>
                  </a:lnTo>
                  <a:lnTo>
                    <a:pt x="325136" y="6483"/>
                  </a:lnTo>
                  <a:lnTo>
                    <a:pt x="286316" y="723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007E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60575" y="4248150"/>
              <a:ext cx="223520" cy="239395"/>
            </a:xfrm>
            <a:custGeom>
              <a:avLst/>
              <a:gdLst/>
              <a:ahLst/>
              <a:cxnLst/>
              <a:rect l="l" t="t" r="r" b="b"/>
              <a:pathLst>
                <a:path w="223519" h="239395">
                  <a:moveTo>
                    <a:pt x="165185" y="42189"/>
                  </a:moveTo>
                  <a:lnTo>
                    <a:pt x="152410" y="27330"/>
                  </a:lnTo>
                  <a:lnTo>
                    <a:pt x="152394" y="24117"/>
                  </a:lnTo>
                </a:path>
                <a:path w="223519" h="239395">
                  <a:moveTo>
                    <a:pt x="15975" y="238633"/>
                  </a:moveTo>
                  <a:lnTo>
                    <a:pt x="15" y="224243"/>
                  </a:lnTo>
                  <a:lnTo>
                    <a:pt x="0" y="217919"/>
                  </a:lnTo>
                </a:path>
                <a:path w="223519" h="239395">
                  <a:moveTo>
                    <a:pt x="15" y="15862"/>
                  </a:moveTo>
                  <a:lnTo>
                    <a:pt x="15106" y="12"/>
                  </a:lnTo>
                  <a:lnTo>
                    <a:pt x="23322" y="0"/>
                  </a:lnTo>
                </a:path>
                <a:path w="223519" h="239395">
                  <a:moveTo>
                    <a:pt x="168334" y="236740"/>
                  </a:moveTo>
                  <a:lnTo>
                    <a:pt x="137205" y="210350"/>
                  </a:lnTo>
                </a:path>
                <a:path w="223519" h="239395">
                  <a:moveTo>
                    <a:pt x="194325" y="40728"/>
                  </a:moveTo>
                  <a:lnTo>
                    <a:pt x="153149" y="0"/>
                  </a:lnTo>
                </a:path>
                <a:path w="223519" h="239395">
                  <a:moveTo>
                    <a:pt x="194325" y="42189"/>
                  </a:moveTo>
                  <a:lnTo>
                    <a:pt x="165185" y="42189"/>
                  </a:lnTo>
                </a:path>
                <a:path w="223519" h="239395">
                  <a:moveTo>
                    <a:pt x="136490" y="238620"/>
                  </a:moveTo>
                  <a:lnTo>
                    <a:pt x="15975" y="238633"/>
                  </a:lnTo>
                </a:path>
                <a:path w="223519" h="239395">
                  <a:moveTo>
                    <a:pt x="194325" y="42189"/>
                  </a:moveTo>
                  <a:lnTo>
                    <a:pt x="194231" y="115862"/>
                  </a:lnTo>
                </a:path>
                <a:path w="223519" h="239395">
                  <a:moveTo>
                    <a:pt x="168334" y="236740"/>
                  </a:moveTo>
                  <a:lnTo>
                    <a:pt x="170780" y="239166"/>
                  </a:lnTo>
                </a:path>
                <a:path w="223519" h="239395">
                  <a:moveTo>
                    <a:pt x="33591" y="47155"/>
                  </a:moveTo>
                  <a:lnTo>
                    <a:pt x="123910" y="47040"/>
                  </a:lnTo>
                </a:path>
                <a:path w="223519" h="239395">
                  <a:moveTo>
                    <a:pt x="34935" y="110655"/>
                  </a:moveTo>
                  <a:lnTo>
                    <a:pt x="106130" y="110426"/>
                  </a:lnTo>
                </a:path>
                <a:path w="223519" h="239395">
                  <a:moveTo>
                    <a:pt x="33646" y="79095"/>
                  </a:moveTo>
                  <a:lnTo>
                    <a:pt x="158978" y="79121"/>
                  </a:lnTo>
                </a:path>
                <a:path w="223519" h="239395">
                  <a:moveTo>
                    <a:pt x="184636" y="147599"/>
                  </a:moveTo>
                  <a:lnTo>
                    <a:pt x="184591" y="148463"/>
                  </a:lnTo>
                  <a:lnTo>
                    <a:pt x="184597" y="149339"/>
                  </a:lnTo>
                  <a:lnTo>
                    <a:pt x="184651" y="150202"/>
                  </a:lnTo>
                </a:path>
                <a:path w="223519" h="239395">
                  <a:moveTo>
                    <a:pt x="143798" y="174917"/>
                  </a:moveTo>
                  <a:lnTo>
                    <a:pt x="154291" y="183603"/>
                  </a:lnTo>
                  <a:lnTo>
                    <a:pt x="156349" y="184632"/>
                  </a:lnTo>
                  <a:lnTo>
                    <a:pt x="158502" y="185407"/>
                  </a:lnTo>
                  <a:lnTo>
                    <a:pt x="160745" y="185928"/>
                  </a:lnTo>
                  <a:lnTo>
                    <a:pt x="162981" y="186448"/>
                  </a:lnTo>
                  <a:lnTo>
                    <a:pt x="165253" y="186715"/>
                  </a:lnTo>
                  <a:lnTo>
                    <a:pt x="167556" y="186715"/>
                  </a:lnTo>
                  <a:lnTo>
                    <a:pt x="169857" y="186715"/>
                  </a:lnTo>
                  <a:lnTo>
                    <a:pt x="172130" y="186448"/>
                  </a:lnTo>
                  <a:lnTo>
                    <a:pt x="174367" y="185915"/>
                  </a:lnTo>
                  <a:lnTo>
                    <a:pt x="176610" y="185381"/>
                  </a:lnTo>
                  <a:lnTo>
                    <a:pt x="178757" y="184607"/>
                  </a:lnTo>
                  <a:lnTo>
                    <a:pt x="180816" y="183578"/>
                  </a:lnTo>
                  <a:lnTo>
                    <a:pt x="182874" y="182549"/>
                  </a:lnTo>
                  <a:lnTo>
                    <a:pt x="184785" y="181292"/>
                  </a:lnTo>
                  <a:lnTo>
                    <a:pt x="186556" y="179819"/>
                  </a:lnTo>
                  <a:lnTo>
                    <a:pt x="188323" y="178346"/>
                  </a:lnTo>
                  <a:lnTo>
                    <a:pt x="189900" y="176695"/>
                  </a:lnTo>
                  <a:lnTo>
                    <a:pt x="191284" y="174853"/>
                  </a:lnTo>
                </a:path>
                <a:path w="223519" h="239395">
                  <a:moveTo>
                    <a:pt x="150153" y="147561"/>
                  </a:moveTo>
                  <a:lnTo>
                    <a:pt x="150158" y="150228"/>
                  </a:lnTo>
                </a:path>
                <a:path w="223519" h="239395">
                  <a:moveTo>
                    <a:pt x="34390" y="142811"/>
                  </a:moveTo>
                  <a:lnTo>
                    <a:pt x="83249" y="142646"/>
                  </a:lnTo>
                </a:path>
                <a:path w="223519" h="239395">
                  <a:moveTo>
                    <a:pt x="137151" y="210426"/>
                  </a:moveTo>
                  <a:lnTo>
                    <a:pt x="115942" y="183959"/>
                  </a:lnTo>
                  <a:lnTo>
                    <a:pt x="114573" y="180365"/>
                  </a:lnTo>
                  <a:lnTo>
                    <a:pt x="113586" y="176669"/>
                  </a:lnTo>
                  <a:lnTo>
                    <a:pt x="112990" y="172872"/>
                  </a:lnTo>
                  <a:lnTo>
                    <a:pt x="112389" y="169075"/>
                  </a:lnTo>
                  <a:lnTo>
                    <a:pt x="112186" y="165252"/>
                  </a:lnTo>
                  <a:lnTo>
                    <a:pt x="112386" y="161417"/>
                  </a:lnTo>
                  <a:lnTo>
                    <a:pt x="112584" y="157568"/>
                  </a:lnTo>
                  <a:lnTo>
                    <a:pt x="118229" y="139357"/>
                  </a:lnTo>
                  <a:lnTo>
                    <a:pt x="119956" y="135915"/>
                  </a:lnTo>
                  <a:lnTo>
                    <a:pt x="122020" y="132702"/>
                  </a:lnTo>
                  <a:lnTo>
                    <a:pt x="124420" y="129705"/>
                  </a:lnTo>
                  <a:lnTo>
                    <a:pt x="126822" y="126695"/>
                  </a:lnTo>
                  <a:lnTo>
                    <a:pt x="129505" y="123964"/>
                  </a:lnTo>
                  <a:lnTo>
                    <a:pt x="132472" y="121526"/>
                  </a:lnTo>
                  <a:lnTo>
                    <a:pt x="135439" y="119087"/>
                  </a:lnTo>
                  <a:lnTo>
                    <a:pt x="152698" y="110959"/>
                  </a:lnTo>
                  <a:lnTo>
                    <a:pt x="156399" y="109918"/>
                  </a:lnTo>
                  <a:lnTo>
                    <a:pt x="160164" y="109270"/>
                  </a:lnTo>
                  <a:lnTo>
                    <a:pt x="164003" y="109016"/>
                  </a:lnTo>
                  <a:lnTo>
                    <a:pt x="167839" y="108762"/>
                  </a:lnTo>
                  <a:lnTo>
                    <a:pt x="171658" y="108902"/>
                  </a:lnTo>
                  <a:lnTo>
                    <a:pt x="175464" y="109448"/>
                  </a:lnTo>
                  <a:lnTo>
                    <a:pt x="179274" y="109994"/>
                  </a:lnTo>
                  <a:lnTo>
                    <a:pt x="182980" y="110921"/>
                  </a:lnTo>
                  <a:lnTo>
                    <a:pt x="186596" y="112242"/>
                  </a:lnTo>
                  <a:lnTo>
                    <a:pt x="190207" y="113550"/>
                  </a:lnTo>
                  <a:lnTo>
                    <a:pt x="193645" y="115227"/>
                  </a:lnTo>
                  <a:lnTo>
                    <a:pt x="196909" y="117259"/>
                  </a:lnTo>
                  <a:lnTo>
                    <a:pt x="200174" y="119291"/>
                  </a:lnTo>
                  <a:lnTo>
                    <a:pt x="213380" y="133045"/>
                  </a:lnTo>
                  <a:lnTo>
                    <a:pt x="215548" y="136220"/>
                  </a:lnTo>
                  <a:lnTo>
                    <a:pt x="222082" y="154139"/>
                  </a:lnTo>
                  <a:lnTo>
                    <a:pt x="222785" y="157924"/>
                  </a:lnTo>
                  <a:lnTo>
                    <a:pt x="223089" y="161734"/>
                  </a:lnTo>
                  <a:lnTo>
                    <a:pt x="222994" y="165582"/>
                  </a:lnTo>
                  <a:lnTo>
                    <a:pt x="222905" y="169418"/>
                  </a:lnTo>
                  <a:lnTo>
                    <a:pt x="217755" y="187782"/>
                  </a:lnTo>
                  <a:lnTo>
                    <a:pt x="216123" y="191274"/>
                  </a:lnTo>
                  <a:lnTo>
                    <a:pt x="214144" y="194538"/>
                  </a:lnTo>
                  <a:lnTo>
                    <a:pt x="211827" y="197612"/>
                  </a:lnTo>
                  <a:lnTo>
                    <a:pt x="209510" y="200672"/>
                  </a:lnTo>
                  <a:lnTo>
                    <a:pt x="206900" y="203479"/>
                  </a:lnTo>
                  <a:lnTo>
                    <a:pt x="204003" y="205994"/>
                  </a:lnTo>
                </a:path>
                <a:path w="223519" h="239395">
                  <a:moveTo>
                    <a:pt x="203998" y="205994"/>
                  </a:moveTo>
                  <a:lnTo>
                    <a:pt x="170780" y="239166"/>
                  </a:lnTo>
                </a:path>
                <a:path w="223519" h="239395">
                  <a:moveTo>
                    <a:pt x="152394" y="24117"/>
                  </a:moveTo>
                  <a:lnTo>
                    <a:pt x="152386" y="0"/>
                  </a:lnTo>
                </a:path>
                <a:path w="223519" h="239395">
                  <a:moveTo>
                    <a:pt x="0" y="217919"/>
                  </a:moveTo>
                  <a:lnTo>
                    <a:pt x="15" y="15862"/>
                  </a:lnTo>
                </a:path>
                <a:path w="223519" h="239395">
                  <a:moveTo>
                    <a:pt x="23322" y="0"/>
                  </a:moveTo>
                  <a:lnTo>
                    <a:pt x="152386" y="0"/>
                  </a:lnTo>
                </a:path>
              </a:pathLst>
            </a:custGeom>
            <a:ln w="1059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94096" y="4774469"/>
            <a:ext cx="3768090" cy="6838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30" dirty="0">
                <a:solidFill>
                  <a:srgbClr val="262424"/>
                </a:solidFill>
                <a:latin typeface="Georgia"/>
                <a:cs typeface="Georgia"/>
              </a:rPr>
              <a:t>Performance</a:t>
            </a:r>
            <a:r>
              <a:rPr sz="1800" b="1" spc="-2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Metrics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Evaluate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using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85" dirty="0">
                <a:solidFill>
                  <a:srgbClr val="262424"/>
                </a:solidFill>
                <a:latin typeface="Tahoma"/>
                <a:cs typeface="Tahoma"/>
              </a:rPr>
              <a:t>RMSE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14" dirty="0">
                <a:solidFill>
                  <a:srgbClr val="262424"/>
                </a:solidFill>
                <a:latin typeface="Tahoma"/>
                <a:cs typeface="Tahoma"/>
              </a:rPr>
              <a:t>MAE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error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metrics.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00725" y="3914775"/>
            <a:ext cx="5010150" cy="1762125"/>
            <a:chOff x="5800725" y="3914775"/>
            <a:chExt cx="5010150" cy="1762125"/>
          </a:xfrm>
        </p:grpSpPr>
        <p:sp>
          <p:nvSpPr>
            <p:cNvPr id="22" name="object 22"/>
            <p:cNvSpPr/>
            <p:nvPr/>
          </p:nvSpPr>
          <p:spPr>
            <a:xfrm>
              <a:off x="5805487" y="3919537"/>
              <a:ext cx="5000625" cy="1752600"/>
            </a:xfrm>
            <a:custGeom>
              <a:avLst/>
              <a:gdLst/>
              <a:ahLst/>
              <a:cxnLst/>
              <a:rect l="l" t="t" r="r" b="b"/>
              <a:pathLst>
                <a:path w="5000625" h="1752600">
                  <a:moveTo>
                    <a:pt x="4947119" y="0"/>
                  </a:moveTo>
                  <a:lnTo>
                    <a:pt x="53505" y="0"/>
                  </a:lnTo>
                  <a:lnTo>
                    <a:pt x="49784" y="368"/>
                  </a:lnTo>
                  <a:lnTo>
                    <a:pt x="14109" y="19431"/>
                  </a:lnTo>
                  <a:lnTo>
                    <a:pt x="0" y="53505"/>
                  </a:lnTo>
                  <a:lnTo>
                    <a:pt x="0" y="1695336"/>
                  </a:lnTo>
                  <a:lnTo>
                    <a:pt x="0" y="1699097"/>
                  </a:lnTo>
                  <a:lnTo>
                    <a:pt x="19431" y="1738486"/>
                  </a:lnTo>
                  <a:lnTo>
                    <a:pt x="53505" y="1752601"/>
                  </a:lnTo>
                  <a:lnTo>
                    <a:pt x="4947119" y="1752601"/>
                  </a:lnTo>
                  <a:lnTo>
                    <a:pt x="4986515" y="1733169"/>
                  </a:lnTo>
                  <a:lnTo>
                    <a:pt x="5000625" y="1699097"/>
                  </a:lnTo>
                  <a:lnTo>
                    <a:pt x="5000625" y="53505"/>
                  </a:lnTo>
                  <a:lnTo>
                    <a:pt x="4981194" y="14109"/>
                  </a:lnTo>
                  <a:lnTo>
                    <a:pt x="4950841" y="368"/>
                  </a:lnTo>
                  <a:lnTo>
                    <a:pt x="4947119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05487" y="3919537"/>
              <a:ext cx="5000625" cy="1752600"/>
            </a:xfrm>
            <a:custGeom>
              <a:avLst/>
              <a:gdLst/>
              <a:ahLst/>
              <a:cxnLst/>
              <a:rect l="l" t="t" r="r" b="b"/>
              <a:pathLst>
                <a:path w="5000625" h="1752600">
                  <a:moveTo>
                    <a:pt x="0" y="1695336"/>
                  </a:moveTo>
                  <a:lnTo>
                    <a:pt x="0" y="57264"/>
                  </a:lnTo>
                  <a:lnTo>
                    <a:pt x="0" y="53505"/>
                  </a:lnTo>
                  <a:lnTo>
                    <a:pt x="368" y="49771"/>
                  </a:lnTo>
                  <a:lnTo>
                    <a:pt x="1104" y="46088"/>
                  </a:lnTo>
                  <a:lnTo>
                    <a:pt x="1828" y="42405"/>
                  </a:lnTo>
                  <a:lnTo>
                    <a:pt x="2921" y="38823"/>
                  </a:lnTo>
                  <a:lnTo>
                    <a:pt x="4356" y="35344"/>
                  </a:lnTo>
                  <a:lnTo>
                    <a:pt x="5791" y="31877"/>
                  </a:lnTo>
                  <a:lnTo>
                    <a:pt x="7556" y="28575"/>
                  </a:lnTo>
                  <a:lnTo>
                    <a:pt x="9652" y="25450"/>
                  </a:lnTo>
                  <a:lnTo>
                    <a:pt x="11734" y="22313"/>
                  </a:lnTo>
                  <a:lnTo>
                    <a:pt x="14109" y="19431"/>
                  </a:lnTo>
                  <a:lnTo>
                    <a:pt x="16776" y="16764"/>
                  </a:lnTo>
                  <a:lnTo>
                    <a:pt x="19431" y="14109"/>
                  </a:lnTo>
                  <a:lnTo>
                    <a:pt x="22326" y="11734"/>
                  </a:lnTo>
                  <a:lnTo>
                    <a:pt x="25450" y="9652"/>
                  </a:lnTo>
                  <a:lnTo>
                    <a:pt x="28575" y="7556"/>
                  </a:lnTo>
                  <a:lnTo>
                    <a:pt x="53505" y="0"/>
                  </a:lnTo>
                  <a:lnTo>
                    <a:pt x="57264" y="0"/>
                  </a:lnTo>
                  <a:lnTo>
                    <a:pt x="4943360" y="0"/>
                  </a:lnTo>
                  <a:lnTo>
                    <a:pt x="4947119" y="0"/>
                  </a:lnTo>
                  <a:lnTo>
                    <a:pt x="4950841" y="368"/>
                  </a:lnTo>
                  <a:lnTo>
                    <a:pt x="4975174" y="9652"/>
                  </a:lnTo>
                  <a:lnTo>
                    <a:pt x="4978298" y="11734"/>
                  </a:lnTo>
                  <a:lnTo>
                    <a:pt x="4999520" y="46088"/>
                  </a:lnTo>
                  <a:lnTo>
                    <a:pt x="5000256" y="49771"/>
                  </a:lnTo>
                  <a:lnTo>
                    <a:pt x="5000625" y="53505"/>
                  </a:lnTo>
                  <a:lnTo>
                    <a:pt x="5000625" y="57264"/>
                  </a:lnTo>
                  <a:lnTo>
                    <a:pt x="5000625" y="1695336"/>
                  </a:lnTo>
                  <a:lnTo>
                    <a:pt x="5000625" y="1699097"/>
                  </a:lnTo>
                  <a:lnTo>
                    <a:pt x="5000256" y="1702822"/>
                  </a:lnTo>
                  <a:lnTo>
                    <a:pt x="4983848" y="1735828"/>
                  </a:lnTo>
                  <a:lnTo>
                    <a:pt x="4981194" y="1738486"/>
                  </a:lnTo>
                  <a:lnTo>
                    <a:pt x="4978298" y="1740858"/>
                  </a:lnTo>
                  <a:lnTo>
                    <a:pt x="4975174" y="1742946"/>
                  </a:lnTo>
                  <a:lnTo>
                    <a:pt x="4972050" y="1745035"/>
                  </a:lnTo>
                  <a:lnTo>
                    <a:pt x="4968748" y="1746801"/>
                  </a:lnTo>
                  <a:lnTo>
                    <a:pt x="4965268" y="1748240"/>
                  </a:lnTo>
                  <a:lnTo>
                    <a:pt x="4961801" y="1749679"/>
                  </a:lnTo>
                  <a:lnTo>
                    <a:pt x="4958219" y="1750764"/>
                  </a:lnTo>
                  <a:lnTo>
                    <a:pt x="4954536" y="1751500"/>
                  </a:lnTo>
                  <a:lnTo>
                    <a:pt x="4950841" y="1752234"/>
                  </a:lnTo>
                  <a:lnTo>
                    <a:pt x="4947119" y="1752601"/>
                  </a:lnTo>
                  <a:lnTo>
                    <a:pt x="4943360" y="1752601"/>
                  </a:lnTo>
                  <a:lnTo>
                    <a:pt x="57264" y="1752601"/>
                  </a:lnTo>
                  <a:lnTo>
                    <a:pt x="53505" y="1752601"/>
                  </a:lnTo>
                  <a:lnTo>
                    <a:pt x="49784" y="1752234"/>
                  </a:lnTo>
                  <a:lnTo>
                    <a:pt x="25450" y="1742946"/>
                  </a:lnTo>
                  <a:lnTo>
                    <a:pt x="22326" y="1740858"/>
                  </a:lnTo>
                  <a:lnTo>
                    <a:pt x="19431" y="1738486"/>
                  </a:lnTo>
                  <a:lnTo>
                    <a:pt x="16776" y="1735828"/>
                  </a:lnTo>
                  <a:lnTo>
                    <a:pt x="14109" y="1733169"/>
                  </a:lnTo>
                  <a:lnTo>
                    <a:pt x="11734" y="1730277"/>
                  </a:lnTo>
                  <a:lnTo>
                    <a:pt x="9652" y="1727151"/>
                  </a:lnTo>
                  <a:lnTo>
                    <a:pt x="7556" y="1724026"/>
                  </a:lnTo>
                  <a:lnTo>
                    <a:pt x="1104" y="1706509"/>
                  </a:lnTo>
                  <a:lnTo>
                    <a:pt x="368" y="1702822"/>
                  </a:lnTo>
                  <a:lnTo>
                    <a:pt x="0" y="1699097"/>
                  </a:lnTo>
                  <a:lnTo>
                    <a:pt x="0" y="1695336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91225" y="410527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lnTo>
                    <a:pt x="227568" y="2882"/>
                  </a:lnTo>
                  <a:lnTo>
                    <a:pt x="189280" y="11480"/>
                  </a:lnTo>
                  <a:lnTo>
                    <a:pt x="152669" y="25611"/>
                  </a:lnTo>
                  <a:lnTo>
                    <a:pt x="118529" y="44945"/>
                  </a:lnTo>
                  <a:lnTo>
                    <a:pt x="87595" y="69091"/>
                  </a:lnTo>
                  <a:lnTo>
                    <a:pt x="60540" y="97510"/>
                  </a:lnTo>
                  <a:lnTo>
                    <a:pt x="37944" y="129587"/>
                  </a:lnTo>
                  <a:lnTo>
                    <a:pt x="20294" y="164642"/>
                  </a:lnTo>
                  <a:lnTo>
                    <a:pt x="7996" y="201898"/>
                  </a:lnTo>
                  <a:lnTo>
                    <a:pt x="1282" y="240550"/>
                  </a:lnTo>
                  <a:lnTo>
                    <a:pt x="0" y="266700"/>
                  </a:lnTo>
                  <a:lnTo>
                    <a:pt x="80" y="273248"/>
                  </a:lnTo>
                  <a:lnTo>
                    <a:pt x="3925" y="312292"/>
                  </a:lnTo>
                  <a:lnTo>
                    <a:pt x="13459" y="350360"/>
                  </a:lnTo>
                  <a:lnTo>
                    <a:pt x="28475" y="386609"/>
                  </a:lnTo>
                  <a:lnTo>
                    <a:pt x="48648" y="420271"/>
                  </a:lnTo>
                  <a:lnTo>
                    <a:pt x="73540" y="450598"/>
                  </a:lnTo>
                  <a:lnTo>
                    <a:pt x="102618" y="476955"/>
                  </a:lnTo>
                  <a:lnTo>
                    <a:pt x="135243" y="498748"/>
                  </a:lnTo>
                  <a:lnTo>
                    <a:pt x="170719" y="515529"/>
                  </a:lnTo>
                  <a:lnTo>
                    <a:pt x="208265" y="526919"/>
                  </a:lnTo>
                  <a:lnTo>
                    <a:pt x="247083" y="532676"/>
                  </a:lnTo>
                  <a:lnTo>
                    <a:pt x="266700" y="533400"/>
                  </a:lnTo>
                  <a:lnTo>
                    <a:pt x="273248" y="533319"/>
                  </a:lnTo>
                  <a:lnTo>
                    <a:pt x="312292" y="529477"/>
                  </a:lnTo>
                  <a:lnTo>
                    <a:pt x="350360" y="519939"/>
                  </a:lnTo>
                  <a:lnTo>
                    <a:pt x="386609" y="504923"/>
                  </a:lnTo>
                  <a:lnTo>
                    <a:pt x="420271" y="484751"/>
                  </a:lnTo>
                  <a:lnTo>
                    <a:pt x="450598" y="459859"/>
                  </a:lnTo>
                  <a:lnTo>
                    <a:pt x="476955" y="430781"/>
                  </a:lnTo>
                  <a:lnTo>
                    <a:pt x="498748" y="398156"/>
                  </a:lnTo>
                  <a:lnTo>
                    <a:pt x="515529" y="362680"/>
                  </a:lnTo>
                  <a:lnTo>
                    <a:pt x="526914" y="325140"/>
                  </a:lnTo>
                  <a:lnTo>
                    <a:pt x="532676" y="286316"/>
                  </a:lnTo>
                  <a:lnTo>
                    <a:pt x="533400" y="266700"/>
                  </a:lnTo>
                  <a:lnTo>
                    <a:pt x="533319" y="260151"/>
                  </a:lnTo>
                  <a:lnTo>
                    <a:pt x="529474" y="221107"/>
                  </a:lnTo>
                  <a:lnTo>
                    <a:pt x="519938" y="183039"/>
                  </a:lnTo>
                  <a:lnTo>
                    <a:pt x="504924" y="146785"/>
                  </a:lnTo>
                  <a:lnTo>
                    <a:pt x="484751" y="113128"/>
                  </a:lnTo>
                  <a:lnTo>
                    <a:pt x="459859" y="82801"/>
                  </a:lnTo>
                  <a:lnTo>
                    <a:pt x="430781" y="56450"/>
                  </a:lnTo>
                  <a:lnTo>
                    <a:pt x="398156" y="34651"/>
                  </a:lnTo>
                  <a:lnTo>
                    <a:pt x="362680" y="17870"/>
                  </a:lnTo>
                  <a:lnTo>
                    <a:pt x="325134" y="6483"/>
                  </a:lnTo>
                  <a:lnTo>
                    <a:pt x="286316" y="723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007E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8805" y="4251364"/>
              <a:ext cx="249755" cy="23263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977483" y="4774469"/>
            <a:ext cx="3566160" cy="6838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00" dirty="0">
                <a:solidFill>
                  <a:srgbClr val="262424"/>
                </a:solidFill>
                <a:latin typeface="Georgia"/>
                <a:cs typeface="Georgia"/>
              </a:rPr>
              <a:t>Interactive</a:t>
            </a:r>
            <a:r>
              <a:rPr sz="1800" b="1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Interface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Visualize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results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Streamlit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dashboard.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9524"/>
            <a:ext cx="4286250" cy="6429375"/>
            <a:chOff x="7143750" y="9524"/>
            <a:chExt cx="4286250" cy="64293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9524"/>
              <a:ext cx="4286250" cy="64293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2825" y="333374"/>
              <a:ext cx="3848099" cy="577215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402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Dataset</a:t>
            </a:r>
            <a:r>
              <a:rPr spc="-90" dirty="0"/>
              <a:t> </a:t>
            </a:r>
            <a:r>
              <a:rPr spc="-295" dirty="0"/>
              <a:t>Overview</a:t>
            </a:r>
          </a:p>
        </p:txBody>
      </p:sp>
      <p:sp>
        <p:nvSpPr>
          <p:cNvPr id="7" name="object 7"/>
          <p:cNvSpPr/>
          <p:nvPr/>
        </p:nvSpPr>
        <p:spPr>
          <a:xfrm>
            <a:off x="647700" y="3629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7700" y="3971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7700" y="431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7700" y="4667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7700" y="50101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7700" y="535305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84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7466" y="1535969"/>
            <a:ext cx="5732780" cy="39509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35" dirty="0">
                <a:latin typeface="Georgia"/>
                <a:cs typeface="Georgia"/>
              </a:rPr>
              <a:t>Data</a:t>
            </a:r>
            <a:r>
              <a:rPr sz="1800" b="1" spc="-25" dirty="0">
                <a:latin typeface="Georgia"/>
                <a:cs typeface="Georgia"/>
              </a:rPr>
              <a:t> </a:t>
            </a:r>
            <a:r>
              <a:rPr sz="1800" b="1" spc="-10" dirty="0">
                <a:latin typeface="Georgia"/>
                <a:cs typeface="Georgia"/>
              </a:rPr>
              <a:t>Structure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33900"/>
              </a:lnSpc>
              <a:spcBef>
                <a:spcPts val="1945"/>
              </a:spcBef>
            </a:pP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Historical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daily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revenue</a:t>
            </a:r>
            <a:r>
              <a:rPr sz="14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records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sz="14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customer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262424"/>
                </a:solidFill>
                <a:latin typeface="Tahoma"/>
                <a:cs typeface="Tahoma"/>
              </a:rPr>
              <a:t>ID,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date,</a:t>
            </a:r>
            <a:r>
              <a:rPr sz="14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revenue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value</a:t>
            </a:r>
            <a:r>
              <a:rPr sz="1400" spc="1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columns.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b="1" spc="-114" dirty="0">
                <a:latin typeface="Georgia"/>
                <a:cs typeface="Georgia"/>
              </a:rPr>
              <a:t>Preprocessing</a:t>
            </a:r>
            <a:r>
              <a:rPr sz="1800" b="1" spc="-15" dirty="0">
                <a:latin typeface="Georgia"/>
                <a:cs typeface="Georgia"/>
              </a:rPr>
              <a:t> </a:t>
            </a:r>
            <a:r>
              <a:rPr sz="1800" b="1" spc="-20" dirty="0">
                <a:latin typeface="Georgia"/>
                <a:cs typeface="Georgia"/>
              </a:rPr>
              <a:t>Steps</a:t>
            </a:r>
            <a:endParaRPr sz="1800">
              <a:latin typeface="Georgia"/>
              <a:cs typeface="Georgia"/>
            </a:endParaRPr>
          </a:p>
          <a:p>
            <a:pPr marL="295910" marR="2666365">
              <a:lnSpc>
                <a:spcPct val="160700"/>
              </a:lnSpc>
              <a:spcBef>
                <a:spcPts val="1570"/>
              </a:spcBef>
            </a:pP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Convert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dates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datetime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format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Sort</a:t>
            </a:r>
            <a:r>
              <a:rPr sz="1400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chronologically</a:t>
            </a:r>
            <a:endParaRPr sz="1400">
              <a:latin typeface="Tahoma"/>
              <a:cs typeface="Tahoma"/>
            </a:endParaRPr>
          </a:p>
          <a:p>
            <a:pPr marL="295910">
              <a:lnSpc>
                <a:spcPct val="100000"/>
              </a:lnSpc>
              <a:spcBef>
                <a:spcPts val="1019"/>
              </a:spcBef>
            </a:pPr>
            <a:r>
              <a:rPr sz="1400" spc="95" dirty="0">
                <a:solidFill>
                  <a:srgbClr val="262424"/>
                </a:solidFill>
                <a:latin typeface="Tahoma"/>
                <a:cs typeface="Tahoma"/>
              </a:rPr>
              <a:t>Check</a:t>
            </a:r>
            <a:r>
              <a:rPr sz="140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missing</a:t>
            </a:r>
            <a:r>
              <a:rPr sz="140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values</a:t>
            </a:r>
            <a:endParaRPr sz="1400">
              <a:latin typeface="Tahoma"/>
              <a:cs typeface="Tahoma"/>
            </a:endParaRPr>
          </a:p>
          <a:p>
            <a:pPr marL="295910" marR="3054350">
              <a:lnSpc>
                <a:spcPct val="160700"/>
              </a:lnSpc>
              <a:spcBef>
                <a:spcPts val="75"/>
              </a:spcBef>
            </a:pP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Resample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daily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frequency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Fill</a:t>
            </a:r>
            <a:r>
              <a:rPr sz="14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missing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values</a:t>
            </a:r>
            <a:endParaRPr sz="1400">
              <a:latin typeface="Tahoma"/>
              <a:cs typeface="Tahoma"/>
            </a:endParaRPr>
          </a:p>
          <a:p>
            <a:pPr marL="295910">
              <a:lnSpc>
                <a:spcPct val="100000"/>
              </a:lnSpc>
              <a:spcBef>
                <a:spcPts val="1019"/>
              </a:spcBef>
            </a:pP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Identify</a:t>
            </a:r>
            <a:r>
              <a:rPr sz="1400" spc="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trends</a:t>
            </a:r>
            <a:r>
              <a:rPr sz="1400" spc="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outliers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50" cy="64293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117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10"/>
              </a:spcBef>
            </a:pPr>
            <a:r>
              <a:rPr spc="-240" dirty="0"/>
              <a:t>Baseline</a:t>
            </a:r>
            <a:r>
              <a:rPr spc="-60" dirty="0"/>
              <a:t> </a:t>
            </a:r>
            <a:r>
              <a:rPr spc="-250" dirty="0"/>
              <a:t>Forecasting</a:t>
            </a:r>
            <a:r>
              <a:rPr spc="-65" dirty="0"/>
              <a:t> </a:t>
            </a:r>
            <a:r>
              <a:rPr spc="-280" dirty="0"/>
              <a:t>Model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5" y="1819274"/>
            <a:ext cx="5924550" cy="1352550"/>
            <a:chOff x="600075" y="1819274"/>
            <a:chExt cx="5924550" cy="1352550"/>
          </a:xfrm>
        </p:grpSpPr>
        <p:sp>
          <p:nvSpPr>
            <p:cNvPr id="7" name="object 7"/>
            <p:cNvSpPr/>
            <p:nvPr/>
          </p:nvSpPr>
          <p:spPr>
            <a:xfrm>
              <a:off x="619963" y="1819287"/>
              <a:ext cx="5904865" cy="1352550"/>
            </a:xfrm>
            <a:custGeom>
              <a:avLst/>
              <a:gdLst/>
              <a:ahLst/>
              <a:cxnLst/>
              <a:rect l="l" t="t" r="r" b="b"/>
              <a:pathLst>
                <a:path w="5904865" h="1352550">
                  <a:moveTo>
                    <a:pt x="5904585" y="53441"/>
                  </a:moveTo>
                  <a:lnTo>
                    <a:pt x="5903074" y="45885"/>
                  </a:lnTo>
                  <a:lnTo>
                    <a:pt x="5896775" y="30683"/>
                  </a:lnTo>
                  <a:lnTo>
                    <a:pt x="5892292" y="23977"/>
                  </a:lnTo>
                  <a:lnTo>
                    <a:pt x="5886958" y="18643"/>
                  </a:lnTo>
                  <a:lnTo>
                    <a:pt x="5886488" y="18161"/>
                  </a:lnTo>
                  <a:lnTo>
                    <a:pt x="5880671" y="12344"/>
                  </a:lnTo>
                  <a:lnTo>
                    <a:pt x="5873966" y="7874"/>
                  </a:lnTo>
                  <a:lnTo>
                    <a:pt x="5858967" y="1651"/>
                  </a:lnTo>
                  <a:lnTo>
                    <a:pt x="5859183" y="1651"/>
                  </a:lnTo>
                  <a:lnTo>
                    <a:pt x="585085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080" y="1651"/>
                  </a:lnTo>
                  <a:lnTo>
                    <a:pt x="59664" y="1651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2527" y="53797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42622" y="19050"/>
                  </a:lnTo>
                  <a:lnTo>
                    <a:pt x="5851207" y="19824"/>
                  </a:lnTo>
                  <a:lnTo>
                    <a:pt x="5859526" y="22313"/>
                  </a:lnTo>
                  <a:lnTo>
                    <a:pt x="5859348" y="22313"/>
                  </a:lnTo>
                  <a:lnTo>
                    <a:pt x="5866396" y="26123"/>
                  </a:lnTo>
                  <a:lnTo>
                    <a:pt x="5885535" y="61328"/>
                  </a:lnTo>
                  <a:lnTo>
                    <a:pt x="5885535" y="1291221"/>
                  </a:lnTo>
                  <a:lnTo>
                    <a:pt x="5884850" y="1298752"/>
                  </a:lnTo>
                  <a:lnTo>
                    <a:pt x="5884824" y="1299095"/>
                  </a:lnTo>
                  <a:lnTo>
                    <a:pt x="5882564" y="1306664"/>
                  </a:lnTo>
                  <a:lnTo>
                    <a:pt x="5882462" y="1307007"/>
                  </a:lnTo>
                  <a:lnTo>
                    <a:pt x="5878525" y="1314284"/>
                  </a:lnTo>
                  <a:lnTo>
                    <a:pt x="5842622" y="1333500"/>
                  </a:lnTo>
                  <a:lnTo>
                    <a:pt x="75349" y="1333500"/>
                  </a:lnTo>
                  <a:lnTo>
                    <a:pt x="33007" y="1323873"/>
                  </a:lnTo>
                  <a:lnTo>
                    <a:pt x="1092" y="1291221"/>
                  </a:lnTo>
                  <a:lnTo>
                    <a:pt x="0" y="1287106"/>
                  </a:lnTo>
                  <a:lnTo>
                    <a:pt x="609" y="1291221"/>
                  </a:lnTo>
                  <a:lnTo>
                    <a:pt x="2413" y="1298422"/>
                  </a:lnTo>
                  <a:lnTo>
                    <a:pt x="4851" y="1305217"/>
                  </a:lnTo>
                  <a:lnTo>
                    <a:pt x="4953" y="1305509"/>
                  </a:lnTo>
                  <a:lnTo>
                    <a:pt x="33007" y="1339710"/>
                  </a:lnTo>
                  <a:lnTo>
                    <a:pt x="75349" y="1352550"/>
                  </a:lnTo>
                  <a:lnTo>
                    <a:pt x="5850852" y="1352550"/>
                  </a:lnTo>
                  <a:lnTo>
                    <a:pt x="5858141" y="1351089"/>
                  </a:lnTo>
                  <a:lnTo>
                    <a:pt x="5858472" y="1351089"/>
                  </a:lnTo>
                  <a:lnTo>
                    <a:pt x="5873966" y="1344688"/>
                  </a:lnTo>
                  <a:lnTo>
                    <a:pt x="5880671" y="1340192"/>
                  </a:lnTo>
                  <a:lnTo>
                    <a:pt x="5886475" y="1334376"/>
                  </a:lnTo>
                  <a:lnTo>
                    <a:pt x="5886958" y="1333893"/>
                  </a:lnTo>
                  <a:lnTo>
                    <a:pt x="5892292" y="1328559"/>
                  </a:lnTo>
                  <a:lnTo>
                    <a:pt x="5896775" y="1321854"/>
                  </a:lnTo>
                  <a:lnTo>
                    <a:pt x="5903074" y="1306664"/>
                  </a:lnTo>
                  <a:lnTo>
                    <a:pt x="5904585" y="1299095"/>
                  </a:lnTo>
                  <a:lnTo>
                    <a:pt x="5904585" y="53441"/>
                  </a:lnTo>
                  <a:close/>
                </a:path>
              </a:pathLst>
            </a:custGeom>
            <a:solidFill>
              <a:srgbClr val="B1D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075" y="1819274"/>
              <a:ext cx="76200" cy="1352550"/>
            </a:xfrm>
            <a:custGeom>
              <a:avLst/>
              <a:gdLst/>
              <a:ahLst/>
              <a:cxnLst/>
              <a:rect l="l" t="t" r="r" b="b"/>
              <a:pathLst>
                <a:path w="76200" h="1352550">
                  <a:moveTo>
                    <a:pt x="76200" y="0"/>
                  </a:moveTo>
                  <a:lnTo>
                    <a:pt x="57948" y="0"/>
                  </a:lnTo>
                  <a:lnTo>
                    <a:pt x="53915" y="393"/>
                  </a:lnTo>
                  <a:lnTo>
                    <a:pt x="15284" y="21043"/>
                  </a:lnTo>
                  <a:lnTo>
                    <a:pt x="0" y="57950"/>
                  </a:lnTo>
                  <a:lnTo>
                    <a:pt x="0" y="1290523"/>
                  </a:lnTo>
                  <a:lnTo>
                    <a:pt x="0" y="1294599"/>
                  </a:lnTo>
                  <a:lnTo>
                    <a:pt x="15284" y="1331506"/>
                  </a:lnTo>
                  <a:lnTo>
                    <a:pt x="53915" y="1352156"/>
                  </a:lnTo>
                  <a:lnTo>
                    <a:pt x="57948" y="1352550"/>
                  </a:lnTo>
                  <a:lnTo>
                    <a:pt x="76200" y="1352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7E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0771" y="1974119"/>
            <a:ext cx="5283200" cy="9696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14" dirty="0">
                <a:solidFill>
                  <a:srgbClr val="262424"/>
                </a:solidFill>
                <a:latin typeface="Georgia"/>
                <a:cs typeface="Georgia"/>
              </a:rPr>
              <a:t>Naive</a:t>
            </a:r>
            <a:r>
              <a:rPr sz="1800" b="1" spc="-1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Forecast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33900"/>
              </a:lnSpc>
              <a:spcBef>
                <a:spcPts val="745"/>
              </a:spcBef>
            </a:pPr>
            <a:r>
              <a:rPr sz="1400" spc="80" dirty="0">
                <a:solidFill>
                  <a:srgbClr val="262424"/>
                </a:solidFill>
                <a:latin typeface="Tahoma"/>
                <a:cs typeface="Tahoma"/>
              </a:rPr>
              <a:t>Assumes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next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value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equals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last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observed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value.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Simple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but</a:t>
            </a:r>
            <a:r>
              <a:rPr sz="1400" spc="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effective</a:t>
            </a:r>
            <a:r>
              <a:rPr sz="1400" spc="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baseline.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0075" y="3352800"/>
            <a:ext cx="5924550" cy="1352550"/>
            <a:chOff x="600075" y="3352800"/>
            <a:chExt cx="5924550" cy="1352550"/>
          </a:xfrm>
        </p:grpSpPr>
        <p:sp>
          <p:nvSpPr>
            <p:cNvPr id="11" name="object 11"/>
            <p:cNvSpPr/>
            <p:nvPr/>
          </p:nvSpPr>
          <p:spPr>
            <a:xfrm>
              <a:off x="619963" y="3352812"/>
              <a:ext cx="5904865" cy="1352550"/>
            </a:xfrm>
            <a:custGeom>
              <a:avLst/>
              <a:gdLst/>
              <a:ahLst/>
              <a:cxnLst/>
              <a:rect l="l" t="t" r="r" b="b"/>
              <a:pathLst>
                <a:path w="5904865" h="1352550">
                  <a:moveTo>
                    <a:pt x="5904585" y="53441"/>
                  </a:moveTo>
                  <a:lnTo>
                    <a:pt x="5903074" y="45885"/>
                  </a:lnTo>
                  <a:lnTo>
                    <a:pt x="5896775" y="30683"/>
                  </a:lnTo>
                  <a:lnTo>
                    <a:pt x="5892292" y="23977"/>
                  </a:lnTo>
                  <a:lnTo>
                    <a:pt x="5886958" y="18643"/>
                  </a:lnTo>
                  <a:lnTo>
                    <a:pt x="5886488" y="18161"/>
                  </a:lnTo>
                  <a:lnTo>
                    <a:pt x="5880671" y="12344"/>
                  </a:lnTo>
                  <a:lnTo>
                    <a:pt x="5873966" y="7874"/>
                  </a:lnTo>
                  <a:lnTo>
                    <a:pt x="5858967" y="1651"/>
                  </a:lnTo>
                  <a:lnTo>
                    <a:pt x="5859183" y="1651"/>
                  </a:lnTo>
                  <a:lnTo>
                    <a:pt x="585085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080" y="1651"/>
                  </a:lnTo>
                  <a:lnTo>
                    <a:pt x="59664" y="1651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2527" y="53797"/>
                  </a:lnTo>
                  <a:lnTo>
                    <a:pt x="2413" y="54102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42622" y="19050"/>
                  </a:lnTo>
                  <a:lnTo>
                    <a:pt x="5851207" y="19824"/>
                  </a:lnTo>
                  <a:lnTo>
                    <a:pt x="5859526" y="22313"/>
                  </a:lnTo>
                  <a:lnTo>
                    <a:pt x="5859348" y="22313"/>
                  </a:lnTo>
                  <a:lnTo>
                    <a:pt x="5866396" y="26123"/>
                  </a:lnTo>
                  <a:lnTo>
                    <a:pt x="5885535" y="61328"/>
                  </a:lnTo>
                  <a:lnTo>
                    <a:pt x="5885535" y="1291221"/>
                  </a:lnTo>
                  <a:lnTo>
                    <a:pt x="5884850" y="1298752"/>
                  </a:lnTo>
                  <a:lnTo>
                    <a:pt x="5884824" y="1299083"/>
                  </a:lnTo>
                  <a:lnTo>
                    <a:pt x="5882564" y="1306664"/>
                  </a:lnTo>
                  <a:lnTo>
                    <a:pt x="5882462" y="1307007"/>
                  </a:lnTo>
                  <a:lnTo>
                    <a:pt x="5878525" y="1314284"/>
                  </a:lnTo>
                  <a:lnTo>
                    <a:pt x="5842622" y="1333500"/>
                  </a:lnTo>
                  <a:lnTo>
                    <a:pt x="75349" y="1333500"/>
                  </a:lnTo>
                  <a:lnTo>
                    <a:pt x="33007" y="1323873"/>
                  </a:lnTo>
                  <a:lnTo>
                    <a:pt x="1092" y="1291221"/>
                  </a:lnTo>
                  <a:lnTo>
                    <a:pt x="0" y="1287106"/>
                  </a:lnTo>
                  <a:lnTo>
                    <a:pt x="609" y="1291221"/>
                  </a:lnTo>
                  <a:lnTo>
                    <a:pt x="20485" y="1329143"/>
                  </a:lnTo>
                  <a:lnTo>
                    <a:pt x="53263" y="1349286"/>
                  </a:lnTo>
                  <a:lnTo>
                    <a:pt x="75349" y="1352550"/>
                  </a:lnTo>
                  <a:lnTo>
                    <a:pt x="5850852" y="1352550"/>
                  </a:lnTo>
                  <a:lnTo>
                    <a:pt x="5858141" y="1351089"/>
                  </a:lnTo>
                  <a:lnTo>
                    <a:pt x="5858472" y="1351089"/>
                  </a:lnTo>
                  <a:lnTo>
                    <a:pt x="5873966" y="1344676"/>
                  </a:lnTo>
                  <a:lnTo>
                    <a:pt x="5880671" y="1340192"/>
                  </a:lnTo>
                  <a:lnTo>
                    <a:pt x="5886475" y="1334376"/>
                  </a:lnTo>
                  <a:lnTo>
                    <a:pt x="5886958" y="1333893"/>
                  </a:lnTo>
                  <a:lnTo>
                    <a:pt x="5892292" y="1328559"/>
                  </a:lnTo>
                  <a:lnTo>
                    <a:pt x="5896775" y="1321854"/>
                  </a:lnTo>
                  <a:lnTo>
                    <a:pt x="5903074" y="1306664"/>
                  </a:lnTo>
                  <a:lnTo>
                    <a:pt x="5904585" y="1299083"/>
                  </a:lnTo>
                  <a:lnTo>
                    <a:pt x="5904585" y="53441"/>
                  </a:lnTo>
                  <a:close/>
                </a:path>
              </a:pathLst>
            </a:custGeom>
            <a:solidFill>
              <a:srgbClr val="B1D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75" y="3352800"/>
              <a:ext cx="76200" cy="1352550"/>
            </a:xfrm>
            <a:custGeom>
              <a:avLst/>
              <a:gdLst/>
              <a:ahLst/>
              <a:cxnLst/>
              <a:rect l="l" t="t" r="r" b="b"/>
              <a:pathLst>
                <a:path w="76200" h="1352550">
                  <a:moveTo>
                    <a:pt x="76200" y="0"/>
                  </a:moveTo>
                  <a:lnTo>
                    <a:pt x="57948" y="0"/>
                  </a:lnTo>
                  <a:lnTo>
                    <a:pt x="53915" y="393"/>
                  </a:lnTo>
                  <a:lnTo>
                    <a:pt x="15284" y="21043"/>
                  </a:lnTo>
                  <a:lnTo>
                    <a:pt x="0" y="57950"/>
                  </a:lnTo>
                  <a:lnTo>
                    <a:pt x="0" y="1290523"/>
                  </a:lnTo>
                  <a:lnTo>
                    <a:pt x="0" y="1294599"/>
                  </a:lnTo>
                  <a:lnTo>
                    <a:pt x="15284" y="1331506"/>
                  </a:lnTo>
                  <a:lnTo>
                    <a:pt x="53915" y="1352156"/>
                  </a:lnTo>
                  <a:lnTo>
                    <a:pt x="57948" y="1352550"/>
                  </a:lnTo>
                  <a:lnTo>
                    <a:pt x="76200" y="1352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7E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7466" y="3507644"/>
            <a:ext cx="5699760" cy="1931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130"/>
              </a:spcBef>
            </a:pPr>
            <a:r>
              <a:rPr sz="1800" b="1" spc="-125" dirty="0">
                <a:solidFill>
                  <a:srgbClr val="262424"/>
                </a:solidFill>
                <a:latin typeface="Georgia"/>
                <a:cs typeface="Georgia"/>
              </a:rPr>
              <a:t>Moving</a:t>
            </a:r>
            <a:r>
              <a:rPr sz="1800" b="1" spc="-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Average</a:t>
            </a:r>
            <a:endParaRPr sz="1800">
              <a:latin typeface="Georgia"/>
              <a:cs typeface="Georgia"/>
            </a:endParaRPr>
          </a:p>
          <a:p>
            <a:pPr marL="265430" marR="5080">
              <a:lnSpc>
                <a:spcPct val="133900"/>
              </a:lnSpc>
              <a:spcBef>
                <a:spcPts val="745"/>
              </a:spcBef>
            </a:pP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Predicts</a:t>
            </a:r>
            <a:r>
              <a:rPr sz="140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future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values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262424"/>
                </a:solidFill>
                <a:latin typeface="Tahoma"/>
                <a:cs typeface="Tahoma"/>
              </a:rPr>
              <a:t>as</a:t>
            </a:r>
            <a:r>
              <a:rPr sz="140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average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40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last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k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days.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Smooths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out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noise.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1400">
              <a:latin typeface="Tahoma"/>
              <a:cs typeface="Tahoma"/>
            </a:endParaRPr>
          </a:p>
          <a:p>
            <a:pPr marL="12700" marR="588010">
              <a:lnSpc>
                <a:spcPct val="133900"/>
              </a:lnSpc>
            </a:pPr>
            <a:r>
              <a:rPr sz="1400" spc="70" dirty="0">
                <a:solidFill>
                  <a:srgbClr val="262424"/>
                </a:solidFill>
                <a:latin typeface="Tahoma"/>
                <a:cs typeface="Tahoma"/>
              </a:rPr>
              <a:t>These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baseline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models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serve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262424"/>
                </a:solidFill>
                <a:latin typeface="Tahoma"/>
                <a:cs typeface="Tahoma"/>
              </a:rPr>
              <a:t>as</a:t>
            </a:r>
            <a:r>
              <a:rPr sz="14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reference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 points to 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measure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improvement</a:t>
            </a:r>
            <a:r>
              <a:rPr sz="1400" spc="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from</a:t>
            </a:r>
            <a:r>
              <a:rPr sz="1400" spc="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262424"/>
                </a:solidFill>
                <a:latin typeface="Tahoma"/>
                <a:cs typeface="Tahoma"/>
              </a:rPr>
              <a:t>advanced</a:t>
            </a:r>
            <a:r>
              <a:rPr sz="1400" spc="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techniques.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10"/>
              </a:spcBef>
            </a:pPr>
            <a:r>
              <a:rPr spc="-370" dirty="0"/>
              <a:t>ARIMA:</a:t>
            </a:r>
            <a:r>
              <a:rPr spc="-95" dirty="0"/>
              <a:t> </a:t>
            </a:r>
            <a:r>
              <a:rPr spc="-175" dirty="0"/>
              <a:t>Statistical</a:t>
            </a:r>
            <a:r>
              <a:rPr spc="-85" dirty="0"/>
              <a:t> </a:t>
            </a:r>
            <a:r>
              <a:rPr spc="-229" dirty="0"/>
              <a:t>Time</a:t>
            </a:r>
            <a:r>
              <a:rPr spc="-85" dirty="0"/>
              <a:t> </a:t>
            </a:r>
            <a:r>
              <a:rPr spc="-240" dirty="0"/>
              <a:t>Series</a:t>
            </a:r>
            <a:r>
              <a:rPr spc="-85" dirty="0"/>
              <a:t> </a:t>
            </a:r>
            <a:r>
              <a:rPr spc="-27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414" y="1564544"/>
            <a:ext cx="2985135" cy="419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sz="1800" b="1" spc="-145" dirty="0">
                <a:latin typeface="Georgia"/>
                <a:cs typeface="Georgia"/>
              </a:rPr>
              <a:t>What</a:t>
            </a:r>
            <a:r>
              <a:rPr sz="1800" b="1" spc="-45" dirty="0">
                <a:latin typeface="Georgia"/>
                <a:cs typeface="Georgia"/>
              </a:rPr>
              <a:t> </a:t>
            </a:r>
            <a:r>
              <a:rPr sz="1800" b="1" spc="-65" dirty="0">
                <a:latin typeface="Georgia"/>
                <a:cs typeface="Georgia"/>
              </a:rPr>
              <a:t>is</a:t>
            </a:r>
            <a:r>
              <a:rPr sz="1800" b="1" spc="-40" dirty="0">
                <a:latin typeface="Georgia"/>
                <a:cs typeface="Georgia"/>
              </a:rPr>
              <a:t> </a:t>
            </a:r>
            <a:r>
              <a:rPr sz="1800" b="1" spc="-10" dirty="0">
                <a:latin typeface="Georgia"/>
                <a:cs typeface="Georgia"/>
              </a:rPr>
              <a:t>ARIMA?</a:t>
            </a:r>
            <a:endParaRPr sz="1800">
              <a:latin typeface="Georgia"/>
              <a:cs typeface="Georgia"/>
            </a:endParaRPr>
          </a:p>
          <a:p>
            <a:pPr marL="12700" marR="5080" algn="just">
              <a:lnSpc>
                <a:spcPct val="133900"/>
              </a:lnSpc>
              <a:spcBef>
                <a:spcPts val="1270"/>
              </a:spcBef>
            </a:pP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AutoRegressive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Integrated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Moving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Average</a:t>
            </a:r>
            <a:r>
              <a:rPr sz="1400" spc="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models</a:t>
            </a:r>
            <a:r>
              <a:rPr sz="1400" spc="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linear</a:t>
            </a:r>
            <a:r>
              <a:rPr sz="1400" spc="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patterns</a:t>
            </a:r>
            <a:r>
              <a:rPr sz="1400" spc="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62424"/>
                </a:solidFill>
                <a:latin typeface="Tahoma"/>
                <a:cs typeface="Tahoma"/>
              </a:rPr>
              <a:t>like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trend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seasonality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in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time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series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data.</a:t>
            </a:r>
            <a:endParaRPr sz="140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1595"/>
              </a:spcBef>
            </a:pPr>
            <a:r>
              <a:rPr sz="1800" b="1" spc="-110" dirty="0">
                <a:latin typeface="Georgia"/>
                <a:cs typeface="Georgia"/>
              </a:rPr>
              <a:t>Implementation</a:t>
            </a:r>
            <a:r>
              <a:rPr sz="1800" b="1" spc="5" dirty="0">
                <a:latin typeface="Georgia"/>
                <a:cs typeface="Georgia"/>
              </a:rPr>
              <a:t> </a:t>
            </a:r>
            <a:r>
              <a:rPr sz="1800" b="1" spc="-20" dirty="0">
                <a:latin typeface="Georgia"/>
                <a:cs typeface="Georgia"/>
              </a:rPr>
              <a:t>Steps</a:t>
            </a:r>
            <a:endParaRPr sz="1800">
              <a:latin typeface="Georgia"/>
              <a:cs typeface="Georgia"/>
            </a:endParaRPr>
          </a:p>
          <a:p>
            <a:pPr marL="295910" marR="288290" indent="-283845">
              <a:lnSpc>
                <a:spcPct val="133900"/>
              </a:lnSpc>
              <a:spcBef>
                <a:spcPts val="1270"/>
              </a:spcBef>
              <a:buAutoNum type="arabicPeriod"/>
              <a:tabLst>
                <a:tab pos="295910" algn="l"/>
              </a:tabLst>
            </a:pPr>
            <a:r>
              <a:rPr sz="1400" spc="95" dirty="0">
                <a:solidFill>
                  <a:srgbClr val="262424"/>
                </a:solidFill>
                <a:latin typeface="Tahoma"/>
                <a:cs typeface="Tahoma"/>
              </a:rPr>
              <a:t>Check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stationarity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and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apply 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differencing</a:t>
            </a:r>
            <a:endParaRPr sz="1400">
              <a:latin typeface="Tahoma"/>
              <a:cs typeface="Tahoma"/>
            </a:endParaRPr>
          </a:p>
          <a:p>
            <a:pPr marL="295275" indent="-282575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295275" algn="l"/>
              </a:tabLst>
            </a:pP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Select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parameters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(p,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d,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62424"/>
                </a:solidFill>
                <a:latin typeface="Tahoma"/>
                <a:cs typeface="Tahoma"/>
              </a:rPr>
              <a:t>q)</a:t>
            </a:r>
            <a:endParaRPr sz="1400">
              <a:latin typeface="Tahoma"/>
              <a:cs typeface="Tahoma"/>
            </a:endParaRPr>
          </a:p>
          <a:p>
            <a:pPr marL="295910" indent="-283210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295910" algn="l"/>
              </a:tabLst>
            </a:pP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Train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on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training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endParaRPr sz="1400">
              <a:latin typeface="Tahoma"/>
              <a:cs typeface="Tahoma"/>
            </a:endParaRPr>
          </a:p>
          <a:p>
            <a:pPr marL="295275" indent="-282575">
              <a:lnSpc>
                <a:spcPct val="100000"/>
              </a:lnSpc>
              <a:spcBef>
                <a:spcPts val="1095"/>
              </a:spcBef>
              <a:buAutoNum type="arabicPeriod"/>
              <a:tabLst>
                <a:tab pos="295275" algn="l"/>
              </a:tabLst>
            </a:pP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Generate</a:t>
            </a:r>
            <a:r>
              <a:rPr sz="1400" spc="-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predictions</a:t>
            </a:r>
            <a:endParaRPr sz="1400">
              <a:latin typeface="Tahoma"/>
              <a:cs typeface="Tahoma"/>
            </a:endParaRPr>
          </a:p>
          <a:p>
            <a:pPr marL="295910" indent="-283210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295910" algn="l"/>
              </a:tabLst>
            </a:pP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Store</a:t>
            </a:r>
            <a:r>
              <a:rPr sz="1400" spc="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400" spc="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evaluation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704975"/>
            <a:ext cx="6476999" cy="3876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1255744"/>
            <a:ext cx="7828280" cy="583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35" dirty="0"/>
              <a:t>Machine</a:t>
            </a:r>
            <a:r>
              <a:rPr spc="-100" dirty="0"/>
              <a:t> </a:t>
            </a:r>
            <a:r>
              <a:rPr spc="-254" dirty="0"/>
              <a:t>Learning</a:t>
            </a:r>
            <a:r>
              <a:rPr spc="-95" dirty="0"/>
              <a:t> </a:t>
            </a:r>
            <a:r>
              <a:rPr spc="-265" dirty="0"/>
              <a:t>Regression</a:t>
            </a:r>
            <a:r>
              <a:rPr spc="-90" dirty="0"/>
              <a:t> </a:t>
            </a:r>
            <a:r>
              <a:rPr spc="-27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466" y="2258060"/>
            <a:ext cx="916813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Transforms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forecasting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into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 supervised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learning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using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engineered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features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capture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nonlinear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relationships.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356" y="2716360"/>
            <a:ext cx="369882" cy="3699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83283" y="2755169"/>
            <a:ext cx="3732529" cy="9601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50" dirty="0">
                <a:solidFill>
                  <a:srgbClr val="262424"/>
                </a:solidFill>
                <a:latin typeface="Georgia"/>
                <a:cs typeface="Georgia"/>
              </a:rPr>
              <a:t>Lag</a:t>
            </a:r>
            <a:r>
              <a:rPr sz="1800" b="1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Features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33900"/>
              </a:lnSpc>
              <a:spcBef>
                <a:spcPts val="670"/>
              </a:spcBef>
            </a:pP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Previous</a:t>
            </a:r>
            <a:r>
              <a:rPr sz="140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day,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one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week</a:t>
            </a:r>
            <a:r>
              <a:rPr sz="140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ago,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two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75" dirty="0">
                <a:solidFill>
                  <a:srgbClr val="262424"/>
                </a:solidFill>
                <a:latin typeface="Tahoma"/>
                <a:cs typeface="Tahoma"/>
              </a:rPr>
              <a:t>weeks</a:t>
            </a:r>
            <a:r>
              <a:rPr sz="140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ago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revenue</a:t>
            </a:r>
            <a:r>
              <a:rPr sz="140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values.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56914" y="2716327"/>
            <a:ext cx="299720" cy="370205"/>
            <a:chOff x="5856914" y="2716327"/>
            <a:chExt cx="299720" cy="370205"/>
          </a:xfrm>
        </p:grpSpPr>
        <p:sp>
          <p:nvSpPr>
            <p:cNvPr id="7" name="object 7"/>
            <p:cNvSpPr/>
            <p:nvPr/>
          </p:nvSpPr>
          <p:spPr>
            <a:xfrm>
              <a:off x="5864771" y="2724183"/>
              <a:ext cx="283845" cy="354330"/>
            </a:xfrm>
            <a:custGeom>
              <a:avLst/>
              <a:gdLst/>
              <a:ahLst/>
              <a:cxnLst/>
              <a:rect l="l" t="t" r="r" b="b"/>
              <a:pathLst>
                <a:path w="283845" h="354330">
                  <a:moveTo>
                    <a:pt x="233108" y="354322"/>
                  </a:moveTo>
                  <a:lnTo>
                    <a:pt x="196603" y="337151"/>
                  </a:lnTo>
                  <a:lnTo>
                    <a:pt x="158381" y="329099"/>
                  </a:lnTo>
                  <a:lnTo>
                    <a:pt x="150977" y="328464"/>
                  </a:lnTo>
                </a:path>
                <a:path w="283845" h="354330">
                  <a:moveTo>
                    <a:pt x="124815" y="327728"/>
                  </a:moveTo>
                  <a:lnTo>
                    <a:pt x="109204" y="326180"/>
                  </a:lnTo>
                  <a:lnTo>
                    <a:pt x="95427" y="324450"/>
                  </a:lnTo>
                  <a:lnTo>
                    <a:pt x="82774" y="322450"/>
                  </a:lnTo>
                  <a:lnTo>
                    <a:pt x="70535" y="320095"/>
                  </a:lnTo>
                  <a:lnTo>
                    <a:pt x="55359" y="315675"/>
                  </a:lnTo>
                </a:path>
                <a:path w="283845" h="354330">
                  <a:moveTo>
                    <a:pt x="187096" y="59770"/>
                  </a:moveTo>
                  <a:lnTo>
                    <a:pt x="146062" y="44035"/>
                  </a:lnTo>
                  <a:lnTo>
                    <a:pt x="137617" y="44124"/>
                  </a:lnTo>
                  <a:lnTo>
                    <a:pt x="101447" y="56913"/>
                  </a:lnTo>
                  <a:lnTo>
                    <a:pt x="97561" y="62564"/>
                  </a:lnTo>
                </a:path>
                <a:path w="283845" h="354330">
                  <a:moveTo>
                    <a:pt x="182079" y="69232"/>
                  </a:moveTo>
                  <a:lnTo>
                    <a:pt x="142113" y="80217"/>
                  </a:lnTo>
                  <a:lnTo>
                    <a:pt x="134670" y="79887"/>
                  </a:lnTo>
                  <a:lnTo>
                    <a:pt x="102501" y="68165"/>
                  </a:lnTo>
                  <a:lnTo>
                    <a:pt x="97561" y="62564"/>
                  </a:lnTo>
                </a:path>
                <a:path w="283845" h="354330">
                  <a:moveTo>
                    <a:pt x="55359" y="315675"/>
                  </a:moveTo>
                  <a:lnTo>
                    <a:pt x="17551" y="295597"/>
                  </a:lnTo>
                  <a:lnTo>
                    <a:pt x="25" y="260342"/>
                  </a:lnTo>
                  <a:lnTo>
                    <a:pt x="0" y="249407"/>
                  </a:lnTo>
                </a:path>
                <a:path w="283845" h="354330">
                  <a:moveTo>
                    <a:pt x="25" y="94264"/>
                  </a:moveTo>
                  <a:lnTo>
                    <a:pt x="711" y="82287"/>
                  </a:lnTo>
                  <a:lnTo>
                    <a:pt x="903" y="71748"/>
                  </a:lnTo>
                  <a:lnTo>
                    <a:pt x="916" y="62983"/>
                  </a:lnTo>
                  <a:lnTo>
                    <a:pt x="1066" y="56329"/>
                  </a:lnTo>
                  <a:lnTo>
                    <a:pt x="27224" y="24857"/>
                  </a:lnTo>
                  <a:lnTo>
                    <a:pt x="68772" y="8323"/>
                  </a:lnTo>
                  <a:lnTo>
                    <a:pt x="116801" y="525"/>
                  </a:lnTo>
                  <a:lnTo>
                    <a:pt x="147086" y="0"/>
                  </a:lnTo>
                  <a:lnTo>
                    <a:pt x="163227" y="412"/>
                  </a:lnTo>
                  <a:lnTo>
                    <a:pt x="202445" y="5048"/>
                  </a:lnTo>
                  <a:lnTo>
                    <a:pt x="239760" y="15797"/>
                  </a:lnTo>
                  <a:lnTo>
                    <a:pt x="274675" y="39387"/>
                  </a:lnTo>
                  <a:lnTo>
                    <a:pt x="283040" y="69172"/>
                  </a:lnTo>
                  <a:lnTo>
                    <a:pt x="283122" y="78913"/>
                  </a:lnTo>
                  <a:lnTo>
                    <a:pt x="283413" y="92778"/>
                  </a:lnTo>
                  <a:lnTo>
                    <a:pt x="283413" y="107002"/>
                  </a:lnTo>
                </a:path>
              </a:pathLst>
            </a:custGeom>
            <a:ln w="15712">
              <a:solidFill>
                <a:srgbClr val="007E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6914" y="2776097"/>
              <a:ext cx="299125" cy="3102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388849" y="2755169"/>
            <a:ext cx="4158615" cy="9601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10" dirty="0">
                <a:solidFill>
                  <a:srgbClr val="262424"/>
                </a:solidFill>
                <a:latin typeface="Georgia"/>
                <a:cs typeface="Georgia"/>
              </a:rPr>
              <a:t>Rolling</a:t>
            </a: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 Statistics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33900"/>
              </a:lnSpc>
              <a:spcBef>
                <a:spcPts val="670"/>
              </a:spcBef>
            </a:pPr>
            <a:r>
              <a:rPr sz="1400" spc="70" dirty="0">
                <a:solidFill>
                  <a:srgbClr val="262424"/>
                </a:solidFill>
                <a:latin typeface="Tahoma"/>
                <a:cs typeface="Tahoma"/>
              </a:rPr>
              <a:t>7-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day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14-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day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means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standard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deviations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trend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volatility.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129" y="4134203"/>
            <a:ext cx="350243" cy="24016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6425" y="4126769"/>
            <a:ext cx="4915535" cy="9696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5765" algn="l"/>
                <a:tab pos="589280" algn="l"/>
              </a:tabLst>
            </a:pPr>
            <a:r>
              <a:rPr sz="1800" u="heavy" dirty="0">
                <a:solidFill>
                  <a:srgbClr val="262424"/>
                </a:solidFill>
                <a:uFill>
                  <a:solidFill>
                    <a:srgbClr val="007EBC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262424"/>
                </a:solidFill>
                <a:latin typeface="Times New Roman"/>
                <a:cs typeface="Times New Roman"/>
              </a:rPr>
              <a:t>	</a:t>
            </a:r>
            <a:r>
              <a:rPr sz="1800" b="1" spc="-125" dirty="0">
                <a:solidFill>
                  <a:srgbClr val="262424"/>
                </a:solidFill>
                <a:latin typeface="Georgia"/>
                <a:cs typeface="Georgia"/>
              </a:rPr>
              <a:t>Trend</a:t>
            </a:r>
            <a:r>
              <a:rPr sz="1800" b="1" spc="-1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Features</a:t>
            </a:r>
            <a:endParaRPr sz="1800">
              <a:latin typeface="Georgia"/>
              <a:cs typeface="Georgia"/>
            </a:endParaRPr>
          </a:p>
          <a:p>
            <a:pPr marL="589280" marR="5080">
              <a:lnSpc>
                <a:spcPct val="133900"/>
              </a:lnSpc>
              <a:spcBef>
                <a:spcPts val="745"/>
              </a:spcBef>
            </a:pP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Slope</a:t>
            </a:r>
            <a:r>
              <a:rPr sz="140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calculations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capture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direction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strength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40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trends.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40387" y="4105275"/>
            <a:ext cx="332740" cy="354965"/>
          </a:xfrm>
          <a:custGeom>
            <a:avLst/>
            <a:gdLst/>
            <a:ahLst/>
            <a:cxnLst/>
            <a:rect l="l" t="t" r="r" b="b"/>
            <a:pathLst>
              <a:path w="332739" h="354964">
                <a:moveTo>
                  <a:pt x="271284" y="46786"/>
                </a:moveTo>
                <a:lnTo>
                  <a:pt x="281471" y="46481"/>
                </a:lnTo>
                <a:lnTo>
                  <a:pt x="292282" y="46439"/>
                </a:lnTo>
                <a:lnTo>
                  <a:pt x="301672" y="46627"/>
                </a:lnTo>
                <a:lnTo>
                  <a:pt x="332003" y="73888"/>
                </a:lnTo>
                <a:lnTo>
                  <a:pt x="332193" y="86258"/>
                </a:lnTo>
              </a:path>
              <a:path w="332739" h="354964">
                <a:moveTo>
                  <a:pt x="60540" y="51003"/>
                </a:moveTo>
                <a:lnTo>
                  <a:pt x="75539" y="86258"/>
                </a:lnTo>
                <a:lnTo>
                  <a:pt x="81343" y="87198"/>
                </a:lnTo>
                <a:lnTo>
                  <a:pt x="86677" y="86728"/>
                </a:lnTo>
                <a:lnTo>
                  <a:pt x="103720" y="68872"/>
                </a:lnTo>
                <a:lnTo>
                  <a:pt x="104076" y="63284"/>
                </a:lnTo>
              </a:path>
              <a:path w="332739" h="354964">
                <a:moveTo>
                  <a:pt x="227520" y="51155"/>
                </a:moveTo>
                <a:lnTo>
                  <a:pt x="245287" y="86766"/>
                </a:lnTo>
                <a:lnTo>
                  <a:pt x="248386" y="87185"/>
                </a:lnTo>
                <a:lnTo>
                  <a:pt x="253136" y="86702"/>
                </a:lnTo>
                <a:lnTo>
                  <a:pt x="271064" y="50333"/>
                </a:lnTo>
                <a:lnTo>
                  <a:pt x="270903" y="35777"/>
                </a:lnTo>
                <a:lnTo>
                  <a:pt x="253390" y="711"/>
                </a:lnTo>
                <a:lnTo>
                  <a:pt x="249008" y="0"/>
                </a:lnTo>
                <a:lnTo>
                  <a:pt x="245910" y="279"/>
                </a:lnTo>
                <a:lnTo>
                  <a:pt x="227516" y="33242"/>
                </a:lnTo>
                <a:lnTo>
                  <a:pt x="227317" y="41459"/>
                </a:lnTo>
                <a:lnTo>
                  <a:pt x="227270" y="47065"/>
                </a:lnTo>
                <a:lnTo>
                  <a:pt x="227520" y="51155"/>
                </a:lnTo>
              </a:path>
              <a:path w="332739" h="354964">
                <a:moveTo>
                  <a:pt x="255803" y="303885"/>
                </a:moveTo>
                <a:lnTo>
                  <a:pt x="251173" y="304152"/>
                </a:lnTo>
                <a:lnTo>
                  <a:pt x="242598" y="304344"/>
                </a:lnTo>
                <a:lnTo>
                  <a:pt x="230075" y="304462"/>
                </a:lnTo>
                <a:lnTo>
                  <a:pt x="213601" y="304507"/>
                </a:lnTo>
              </a:path>
              <a:path w="332739" h="354964">
                <a:moveTo>
                  <a:pt x="80302" y="304482"/>
                </a:moveTo>
                <a:lnTo>
                  <a:pt x="62699" y="286727"/>
                </a:lnTo>
                <a:lnTo>
                  <a:pt x="62649" y="284683"/>
                </a:lnTo>
              </a:path>
              <a:path w="332739" h="354964">
                <a:moveTo>
                  <a:pt x="332155" y="321271"/>
                </a:moveTo>
                <a:lnTo>
                  <a:pt x="307454" y="353479"/>
                </a:lnTo>
                <a:lnTo>
                  <a:pt x="301066" y="354317"/>
                </a:lnTo>
                <a:lnTo>
                  <a:pt x="288696" y="354355"/>
                </a:lnTo>
              </a:path>
              <a:path w="332739" h="354964">
                <a:moveTo>
                  <a:pt x="34404" y="354317"/>
                </a:moveTo>
                <a:lnTo>
                  <a:pt x="2006" y="333832"/>
                </a:lnTo>
                <a:lnTo>
                  <a:pt x="25" y="319976"/>
                </a:lnTo>
                <a:lnTo>
                  <a:pt x="0" y="312204"/>
                </a:lnTo>
              </a:path>
              <a:path w="332739" h="354964">
                <a:moveTo>
                  <a:pt x="0" y="78740"/>
                </a:moveTo>
                <a:lnTo>
                  <a:pt x="24117" y="47244"/>
                </a:lnTo>
                <a:lnTo>
                  <a:pt x="34099" y="46202"/>
                </a:lnTo>
                <a:lnTo>
                  <a:pt x="60515" y="46177"/>
                </a:lnTo>
              </a:path>
              <a:path w="332739" h="354964">
                <a:moveTo>
                  <a:pt x="103974" y="22377"/>
                </a:moveTo>
                <a:lnTo>
                  <a:pt x="81013" y="304"/>
                </a:lnTo>
                <a:lnTo>
                  <a:pt x="76123" y="1231"/>
                </a:lnTo>
                <a:lnTo>
                  <a:pt x="60626" y="39354"/>
                </a:lnTo>
                <a:lnTo>
                  <a:pt x="60540" y="51003"/>
                </a:lnTo>
              </a:path>
              <a:path w="332739" h="354964">
                <a:moveTo>
                  <a:pt x="269468" y="286283"/>
                </a:moveTo>
                <a:lnTo>
                  <a:pt x="262420" y="300443"/>
                </a:lnTo>
                <a:lnTo>
                  <a:pt x="257416" y="303542"/>
                </a:lnTo>
              </a:path>
              <a:path w="332739" h="354964">
                <a:moveTo>
                  <a:pt x="226923" y="46228"/>
                </a:moveTo>
                <a:lnTo>
                  <a:pt x="104063" y="46177"/>
                </a:lnTo>
              </a:path>
              <a:path w="332739" h="354964">
                <a:moveTo>
                  <a:pt x="255803" y="303885"/>
                </a:moveTo>
                <a:lnTo>
                  <a:pt x="257416" y="303542"/>
                </a:lnTo>
              </a:path>
              <a:path w="332739" h="354964">
                <a:moveTo>
                  <a:pt x="332193" y="86258"/>
                </a:moveTo>
                <a:lnTo>
                  <a:pt x="332155" y="321271"/>
                </a:lnTo>
              </a:path>
              <a:path w="332739" h="354964">
                <a:moveTo>
                  <a:pt x="288696" y="354355"/>
                </a:moveTo>
                <a:lnTo>
                  <a:pt x="34404" y="354317"/>
                </a:lnTo>
              </a:path>
              <a:path w="332739" h="354964">
                <a:moveTo>
                  <a:pt x="0" y="312204"/>
                </a:moveTo>
                <a:lnTo>
                  <a:pt x="0" y="78740"/>
                </a:lnTo>
              </a:path>
              <a:path w="332739" h="354964">
                <a:moveTo>
                  <a:pt x="213601" y="304507"/>
                </a:moveTo>
                <a:lnTo>
                  <a:pt x="80302" y="304482"/>
                </a:lnTo>
              </a:path>
              <a:path w="332739" h="354964">
                <a:moveTo>
                  <a:pt x="104076" y="63284"/>
                </a:moveTo>
                <a:lnTo>
                  <a:pt x="103974" y="22377"/>
                </a:lnTo>
              </a:path>
              <a:path w="332739" h="354964">
                <a:moveTo>
                  <a:pt x="62649" y="284683"/>
                </a:moveTo>
                <a:lnTo>
                  <a:pt x="62623" y="158623"/>
                </a:lnTo>
              </a:path>
              <a:path w="332739" h="354964">
                <a:moveTo>
                  <a:pt x="62763" y="158610"/>
                </a:moveTo>
                <a:lnTo>
                  <a:pt x="62395" y="155651"/>
                </a:lnTo>
                <a:lnTo>
                  <a:pt x="62699" y="152768"/>
                </a:lnTo>
                <a:lnTo>
                  <a:pt x="63690" y="149961"/>
                </a:lnTo>
                <a:lnTo>
                  <a:pt x="64681" y="147154"/>
                </a:lnTo>
                <a:lnTo>
                  <a:pt x="66243" y="144716"/>
                </a:lnTo>
                <a:lnTo>
                  <a:pt x="68402" y="142659"/>
                </a:lnTo>
                <a:lnTo>
                  <a:pt x="70548" y="140601"/>
                </a:lnTo>
                <a:lnTo>
                  <a:pt x="73050" y="139141"/>
                </a:lnTo>
                <a:lnTo>
                  <a:pt x="75895" y="138264"/>
                </a:lnTo>
                <a:lnTo>
                  <a:pt x="78740" y="137388"/>
                </a:lnTo>
                <a:lnTo>
                  <a:pt x="81635" y="137210"/>
                </a:lnTo>
                <a:lnTo>
                  <a:pt x="84569" y="137706"/>
                </a:lnTo>
              </a:path>
              <a:path w="332739" h="354964">
                <a:moveTo>
                  <a:pt x="84607" y="137515"/>
                </a:moveTo>
                <a:lnTo>
                  <a:pt x="248488" y="137528"/>
                </a:lnTo>
              </a:path>
              <a:path w="332739" h="354964">
                <a:moveTo>
                  <a:pt x="248500" y="137591"/>
                </a:moveTo>
                <a:lnTo>
                  <a:pt x="250075" y="137439"/>
                </a:lnTo>
                <a:lnTo>
                  <a:pt x="251650" y="137477"/>
                </a:lnTo>
                <a:lnTo>
                  <a:pt x="253225" y="137706"/>
                </a:lnTo>
                <a:lnTo>
                  <a:pt x="254800" y="137947"/>
                </a:lnTo>
                <a:lnTo>
                  <a:pt x="256311" y="138366"/>
                </a:lnTo>
                <a:lnTo>
                  <a:pt x="257784" y="138976"/>
                </a:lnTo>
                <a:lnTo>
                  <a:pt x="259245" y="139573"/>
                </a:lnTo>
                <a:lnTo>
                  <a:pt x="265328" y="144538"/>
                </a:lnTo>
                <a:lnTo>
                  <a:pt x="266344" y="145770"/>
                </a:lnTo>
                <a:lnTo>
                  <a:pt x="267195" y="147091"/>
                </a:lnTo>
                <a:lnTo>
                  <a:pt x="267881" y="148526"/>
                </a:lnTo>
                <a:lnTo>
                  <a:pt x="268566" y="149961"/>
                </a:lnTo>
                <a:lnTo>
                  <a:pt x="269062" y="151447"/>
                </a:lnTo>
                <a:lnTo>
                  <a:pt x="269379" y="153009"/>
                </a:lnTo>
                <a:lnTo>
                  <a:pt x="269697" y="154559"/>
                </a:lnTo>
                <a:lnTo>
                  <a:pt x="269836" y="156133"/>
                </a:lnTo>
                <a:lnTo>
                  <a:pt x="269760" y="157721"/>
                </a:lnTo>
                <a:lnTo>
                  <a:pt x="269697" y="159296"/>
                </a:lnTo>
                <a:lnTo>
                  <a:pt x="269443" y="160858"/>
                </a:lnTo>
                <a:lnTo>
                  <a:pt x="268998" y="162382"/>
                </a:lnTo>
              </a:path>
              <a:path w="332739" h="354964">
                <a:moveTo>
                  <a:pt x="269532" y="162534"/>
                </a:moveTo>
                <a:lnTo>
                  <a:pt x="269468" y="286283"/>
                </a:lnTo>
              </a:path>
            </a:pathLst>
          </a:custGeom>
          <a:ln w="15695">
            <a:solidFill>
              <a:srgbClr val="007E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88849" y="4126769"/>
            <a:ext cx="4391660" cy="9696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14" dirty="0">
                <a:solidFill>
                  <a:srgbClr val="262424"/>
                </a:solidFill>
                <a:latin typeface="Georgia"/>
                <a:cs typeface="Georgia"/>
              </a:rPr>
              <a:t>Calendar</a:t>
            </a:r>
            <a:r>
              <a:rPr sz="1800" b="1" spc="1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Features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33900"/>
              </a:lnSpc>
              <a:spcBef>
                <a:spcPts val="745"/>
              </a:spcBef>
            </a:pP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Day</a:t>
            </a:r>
            <a:r>
              <a:rPr sz="140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40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week</a:t>
            </a:r>
            <a:r>
              <a:rPr sz="140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weekend</a:t>
            </a:r>
            <a:r>
              <a:rPr sz="140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indicators</a:t>
            </a:r>
            <a:r>
              <a:rPr sz="140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40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seasonality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patterns.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50" cy="64293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77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10"/>
              </a:spcBef>
            </a:pPr>
            <a:r>
              <a:rPr spc="-265" dirty="0"/>
              <a:t>Trend</a:t>
            </a:r>
            <a:r>
              <a:rPr spc="-125" dirty="0"/>
              <a:t> </a:t>
            </a:r>
            <a:r>
              <a:rPr spc="-295" dirty="0"/>
              <a:t>Regime</a:t>
            </a:r>
            <a:r>
              <a:rPr spc="-110" dirty="0"/>
              <a:t> </a:t>
            </a:r>
            <a:r>
              <a:rPr spc="-190" dirty="0"/>
              <a:t>Detection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13587" y="2423337"/>
            <a:ext cx="897255" cy="3208020"/>
            <a:chOff x="613587" y="2423337"/>
            <a:chExt cx="897255" cy="3208020"/>
          </a:xfrm>
        </p:grpSpPr>
        <p:sp>
          <p:nvSpPr>
            <p:cNvPr id="7" name="object 7"/>
            <p:cNvSpPr/>
            <p:nvPr/>
          </p:nvSpPr>
          <p:spPr>
            <a:xfrm>
              <a:off x="619124" y="2428874"/>
              <a:ext cx="886460" cy="1063625"/>
            </a:xfrm>
            <a:custGeom>
              <a:avLst/>
              <a:gdLst/>
              <a:ahLst/>
              <a:cxnLst/>
              <a:rect l="l" t="t" r="r" b="b"/>
              <a:pathLst>
                <a:path w="886460" h="1063625">
                  <a:moveTo>
                    <a:pt x="886053" y="0"/>
                  </a:moveTo>
                  <a:lnTo>
                    <a:pt x="443026" y="177215"/>
                  </a:lnTo>
                  <a:lnTo>
                    <a:pt x="0" y="0"/>
                  </a:lnTo>
                  <a:lnTo>
                    <a:pt x="0" y="886015"/>
                  </a:lnTo>
                  <a:lnTo>
                    <a:pt x="443026" y="1063231"/>
                  </a:lnTo>
                  <a:lnTo>
                    <a:pt x="886053" y="886015"/>
                  </a:lnTo>
                  <a:lnTo>
                    <a:pt x="886053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9124" y="2428874"/>
              <a:ext cx="886460" cy="1063625"/>
            </a:xfrm>
            <a:custGeom>
              <a:avLst/>
              <a:gdLst/>
              <a:ahLst/>
              <a:cxnLst/>
              <a:rect l="l" t="t" r="r" b="b"/>
              <a:pathLst>
                <a:path w="886460" h="1063625">
                  <a:moveTo>
                    <a:pt x="0" y="886015"/>
                  </a:moveTo>
                  <a:lnTo>
                    <a:pt x="443026" y="1063231"/>
                  </a:lnTo>
                  <a:lnTo>
                    <a:pt x="886053" y="886015"/>
                  </a:lnTo>
                  <a:lnTo>
                    <a:pt x="886053" y="0"/>
                  </a:lnTo>
                  <a:lnTo>
                    <a:pt x="443026" y="177215"/>
                  </a:lnTo>
                  <a:lnTo>
                    <a:pt x="0" y="0"/>
                  </a:lnTo>
                  <a:lnTo>
                    <a:pt x="0" y="886015"/>
                  </a:lnTo>
                  <a:close/>
                </a:path>
              </a:pathLst>
            </a:custGeom>
            <a:ln w="1107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251" y="2823010"/>
              <a:ext cx="200065" cy="27761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9124" y="3495675"/>
              <a:ext cx="886460" cy="1063625"/>
            </a:xfrm>
            <a:custGeom>
              <a:avLst/>
              <a:gdLst/>
              <a:ahLst/>
              <a:cxnLst/>
              <a:rect l="l" t="t" r="r" b="b"/>
              <a:pathLst>
                <a:path w="886460" h="1063625">
                  <a:moveTo>
                    <a:pt x="886053" y="0"/>
                  </a:moveTo>
                  <a:lnTo>
                    <a:pt x="443026" y="177215"/>
                  </a:lnTo>
                  <a:lnTo>
                    <a:pt x="0" y="0"/>
                  </a:lnTo>
                  <a:lnTo>
                    <a:pt x="0" y="886015"/>
                  </a:lnTo>
                  <a:lnTo>
                    <a:pt x="443026" y="1063231"/>
                  </a:lnTo>
                  <a:lnTo>
                    <a:pt x="886053" y="886015"/>
                  </a:lnTo>
                  <a:lnTo>
                    <a:pt x="886053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124" y="3495675"/>
              <a:ext cx="886460" cy="1063625"/>
            </a:xfrm>
            <a:custGeom>
              <a:avLst/>
              <a:gdLst/>
              <a:ahLst/>
              <a:cxnLst/>
              <a:rect l="l" t="t" r="r" b="b"/>
              <a:pathLst>
                <a:path w="886460" h="1063625">
                  <a:moveTo>
                    <a:pt x="0" y="886015"/>
                  </a:moveTo>
                  <a:lnTo>
                    <a:pt x="443026" y="1063231"/>
                  </a:lnTo>
                  <a:lnTo>
                    <a:pt x="886053" y="886015"/>
                  </a:lnTo>
                  <a:lnTo>
                    <a:pt x="886053" y="0"/>
                  </a:lnTo>
                  <a:lnTo>
                    <a:pt x="443026" y="177215"/>
                  </a:lnTo>
                  <a:lnTo>
                    <a:pt x="0" y="0"/>
                  </a:lnTo>
                  <a:lnTo>
                    <a:pt x="0" y="886015"/>
                  </a:lnTo>
                  <a:close/>
                </a:path>
              </a:pathLst>
            </a:custGeom>
            <a:ln w="1107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660" y="3889836"/>
              <a:ext cx="239385" cy="2775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9124" y="4562475"/>
              <a:ext cx="886460" cy="1063625"/>
            </a:xfrm>
            <a:custGeom>
              <a:avLst/>
              <a:gdLst/>
              <a:ahLst/>
              <a:cxnLst/>
              <a:rect l="l" t="t" r="r" b="b"/>
              <a:pathLst>
                <a:path w="886460" h="1063625">
                  <a:moveTo>
                    <a:pt x="886053" y="0"/>
                  </a:moveTo>
                  <a:lnTo>
                    <a:pt x="443026" y="177215"/>
                  </a:lnTo>
                  <a:lnTo>
                    <a:pt x="0" y="0"/>
                  </a:lnTo>
                  <a:lnTo>
                    <a:pt x="0" y="886019"/>
                  </a:lnTo>
                  <a:lnTo>
                    <a:pt x="443026" y="1063228"/>
                  </a:lnTo>
                  <a:lnTo>
                    <a:pt x="886053" y="886019"/>
                  </a:lnTo>
                  <a:lnTo>
                    <a:pt x="886053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9124" y="4562475"/>
              <a:ext cx="886460" cy="1063625"/>
            </a:xfrm>
            <a:custGeom>
              <a:avLst/>
              <a:gdLst/>
              <a:ahLst/>
              <a:cxnLst/>
              <a:rect l="l" t="t" r="r" b="b"/>
              <a:pathLst>
                <a:path w="886460" h="1063625">
                  <a:moveTo>
                    <a:pt x="0" y="886019"/>
                  </a:moveTo>
                  <a:lnTo>
                    <a:pt x="443026" y="1063228"/>
                  </a:lnTo>
                  <a:lnTo>
                    <a:pt x="886053" y="886019"/>
                  </a:lnTo>
                  <a:lnTo>
                    <a:pt x="886053" y="0"/>
                  </a:lnTo>
                  <a:lnTo>
                    <a:pt x="443026" y="177215"/>
                  </a:lnTo>
                  <a:lnTo>
                    <a:pt x="0" y="0"/>
                  </a:lnTo>
                  <a:lnTo>
                    <a:pt x="0" y="886019"/>
                  </a:lnTo>
                  <a:close/>
                </a:path>
              </a:pathLst>
            </a:custGeom>
            <a:ln w="1107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3450" y="4971249"/>
              <a:ext cx="266065" cy="229870"/>
            </a:xfrm>
            <a:custGeom>
              <a:avLst/>
              <a:gdLst/>
              <a:ahLst/>
              <a:cxnLst/>
              <a:rect l="l" t="t" r="r" b="b"/>
              <a:pathLst>
                <a:path w="266065" h="229870">
                  <a:moveTo>
                    <a:pt x="25" y="229162"/>
                  </a:moveTo>
                  <a:lnTo>
                    <a:pt x="0" y="0"/>
                  </a:lnTo>
                </a:path>
                <a:path w="266065" h="229870">
                  <a:moveTo>
                    <a:pt x="265807" y="229307"/>
                  </a:moveTo>
                  <a:lnTo>
                    <a:pt x="25" y="229162"/>
                  </a:lnTo>
                </a:path>
                <a:path w="266065" h="229870">
                  <a:moveTo>
                    <a:pt x="79494" y="86436"/>
                  </a:moveTo>
                  <a:lnTo>
                    <a:pt x="0" y="0"/>
                  </a:lnTo>
                </a:path>
                <a:path w="266065" h="229870">
                  <a:moveTo>
                    <a:pt x="121726" y="44932"/>
                  </a:moveTo>
                  <a:lnTo>
                    <a:pt x="79494" y="86436"/>
                  </a:lnTo>
                </a:path>
                <a:path w="266065" h="229870">
                  <a:moveTo>
                    <a:pt x="246206" y="180060"/>
                  </a:moveTo>
                  <a:lnTo>
                    <a:pt x="121726" y="44932"/>
                  </a:lnTo>
                </a:path>
                <a:path w="266065" h="229870">
                  <a:moveTo>
                    <a:pt x="210859" y="179895"/>
                  </a:moveTo>
                  <a:lnTo>
                    <a:pt x="246206" y="180060"/>
                  </a:lnTo>
                  <a:lnTo>
                    <a:pt x="246195" y="145465"/>
                  </a:lnTo>
                </a:path>
              </a:pathLst>
            </a:custGeom>
            <a:ln w="11920">
              <a:solidFill>
                <a:srgbClr val="26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7466" y="1603883"/>
            <a:ext cx="5870575" cy="3778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Revenue</a:t>
            </a:r>
            <a:r>
              <a:rPr sz="14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behavior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262424"/>
                </a:solidFill>
                <a:latin typeface="Tahoma"/>
                <a:cs typeface="Tahoma"/>
              </a:rPr>
              <a:t>changes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over</a:t>
            </a:r>
            <a:r>
              <a:rPr sz="14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time.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This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analysis</a:t>
            </a:r>
            <a:r>
              <a:rPr sz="14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identifies</a:t>
            </a:r>
            <a:r>
              <a:rPr sz="14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different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trend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periods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40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support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adaptive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forecasting.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400">
              <a:latin typeface="Tahoma"/>
              <a:cs typeface="Tahoma"/>
            </a:endParaRPr>
          </a:p>
          <a:p>
            <a:pPr marL="1075690">
              <a:lnSpc>
                <a:spcPct val="100000"/>
              </a:lnSpc>
            </a:pP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Uptrend</a:t>
            </a:r>
            <a:endParaRPr sz="1800">
              <a:latin typeface="Georgia"/>
              <a:cs typeface="Georgia"/>
            </a:endParaRPr>
          </a:p>
          <a:p>
            <a:pPr marL="1075690">
              <a:lnSpc>
                <a:spcPct val="100000"/>
              </a:lnSpc>
              <a:spcBef>
                <a:spcPts val="1315"/>
              </a:spcBef>
            </a:pP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Positive</a:t>
            </a:r>
            <a:r>
              <a:rPr sz="140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slope</a:t>
            </a:r>
            <a:r>
              <a:rPr sz="140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indicates</a:t>
            </a:r>
            <a:r>
              <a:rPr sz="140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growth</a:t>
            </a:r>
            <a:r>
              <a:rPr sz="140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period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400">
              <a:latin typeface="Tahoma"/>
              <a:cs typeface="Tahoma"/>
            </a:endParaRPr>
          </a:p>
          <a:p>
            <a:pPr marL="1075690">
              <a:lnSpc>
                <a:spcPct val="100000"/>
              </a:lnSpc>
            </a:pPr>
            <a:r>
              <a:rPr sz="1800" b="1" spc="-10" dirty="0">
                <a:solidFill>
                  <a:srgbClr val="262424"/>
                </a:solidFill>
                <a:latin typeface="Georgia"/>
                <a:cs typeface="Georgia"/>
              </a:rPr>
              <a:t>Stable</a:t>
            </a:r>
            <a:endParaRPr sz="1800">
              <a:latin typeface="Georgia"/>
              <a:cs typeface="Georgia"/>
            </a:endParaRPr>
          </a:p>
          <a:p>
            <a:pPr marL="1075690">
              <a:lnSpc>
                <a:spcPct val="100000"/>
              </a:lnSpc>
              <a:spcBef>
                <a:spcPts val="1315"/>
              </a:spcBef>
            </a:pP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Near-zero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slope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75" dirty="0">
                <a:solidFill>
                  <a:srgbClr val="262424"/>
                </a:solidFill>
                <a:latin typeface="Tahoma"/>
                <a:cs typeface="Tahoma"/>
              </a:rPr>
              <a:t>shows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steady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62424"/>
                </a:solidFill>
                <a:latin typeface="Tahoma"/>
                <a:cs typeface="Tahoma"/>
              </a:rPr>
              <a:t>state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1400">
              <a:latin typeface="Tahoma"/>
              <a:cs typeface="Tahoma"/>
            </a:endParaRPr>
          </a:p>
          <a:p>
            <a:pPr marL="1075690">
              <a:lnSpc>
                <a:spcPct val="100000"/>
              </a:lnSpc>
            </a:pPr>
            <a:r>
              <a:rPr sz="1800" b="1" spc="-35" dirty="0">
                <a:solidFill>
                  <a:srgbClr val="262424"/>
                </a:solidFill>
                <a:latin typeface="Georgia"/>
                <a:cs typeface="Georgia"/>
              </a:rPr>
              <a:t>Downtrend</a:t>
            </a:r>
            <a:endParaRPr sz="1800">
              <a:latin typeface="Georgia"/>
              <a:cs typeface="Georgia"/>
            </a:endParaRPr>
          </a:p>
          <a:p>
            <a:pPr marL="1075690">
              <a:lnSpc>
                <a:spcPct val="100000"/>
              </a:lnSpc>
              <a:spcBef>
                <a:spcPts val="1315"/>
              </a:spcBef>
            </a:pP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Negative</a:t>
            </a:r>
            <a:r>
              <a:rPr sz="1400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slope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signals</a:t>
            </a:r>
            <a:r>
              <a:rPr sz="14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decline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50" cy="64293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1346" y="839406"/>
            <a:ext cx="4576445" cy="443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50" spc="-190" dirty="0"/>
              <a:t>Adaptive</a:t>
            </a:r>
            <a:r>
              <a:rPr sz="2750" spc="-50" dirty="0"/>
              <a:t> </a:t>
            </a:r>
            <a:r>
              <a:rPr sz="2750" spc="-235" dirty="0"/>
              <a:t>Hybrid</a:t>
            </a:r>
            <a:r>
              <a:rPr sz="2750" spc="-55" dirty="0"/>
              <a:t> </a:t>
            </a:r>
            <a:r>
              <a:rPr sz="2750" spc="-170" dirty="0"/>
              <a:t>Forecasting</a:t>
            </a:r>
            <a:endParaRPr sz="2750"/>
          </a:p>
        </p:txBody>
      </p:sp>
      <p:sp>
        <p:nvSpPr>
          <p:cNvPr id="6" name="object 6"/>
          <p:cNvSpPr/>
          <p:nvPr/>
        </p:nvSpPr>
        <p:spPr>
          <a:xfrm>
            <a:off x="466725" y="1971674"/>
            <a:ext cx="6210300" cy="19050"/>
          </a:xfrm>
          <a:custGeom>
            <a:avLst/>
            <a:gdLst/>
            <a:ahLst/>
            <a:cxnLst/>
            <a:rect l="l" t="t" r="r" b="b"/>
            <a:pathLst>
              <a:path w="6210300" h="19050">
                <a:moveTo>
                  <a:pt x="6210300" y="0"/>
                </a:moveTo>
                <a:lnTo>
                  <a:pt x="0" y="0"/>
                </a:lnTo>
                <a:lnTo>
                  <a:pt x="0" y="19050"/>
                </a:lnTo>
                <a:lnTo>
                  <a:pt x="6210300" y="19050"/>
                </a:lnTo>
                <a:lnTo>
                  <a:pt x="6210300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6725" y="2943224"/>
            <a:ext cx="6210300" cy="19050"/>
          </a:xfrm>
          <a:custGeom>
            <a:avLst/>
            <a:gdLst/>
            <a:ahLst/>
            <a:cxnLst/>
            <a:rect l="l" t="t" r="r" b="b"/>
            <a:pathLst>
              <a:path w="6210300" h="19050">
                <a:moveTo>
                  <a:pt x="6210300" y="0"/>
                </a:moveTo>
                <a:lnTo>
                  <a:pt x="0" y="0"/>
                </a:lnTo>
                <a:lnTo>
                  <a:pt x="0" y="19050"/>
                </a:lnTo>
                <a:lnTo>
                  <a:pt x="6210300" y="19050"/>
                </a:lnTo>
                <a:lnTo>
                  <a:pt x="6210300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725" y="3914775"/>
            <a:ext cx="6210300" cy="19050"/>
          </a:xfrm>
          <a:custGeom>
            <a:avLst/>
            <a:gdLst/>
            <a:ahLst/>
            <a:cxnLst/>
            <a:rect l="l" t="t" r="r" b="b"/>
            <a:pathLst>
              <a:path w="6210300" h="19050">
                <a:moveTo>
                  <a:pt x="6210300" y="0"/>
                </a:moveTo>
                <a:lnTo>
                  <a:pt x="0" y="0"/>
                </a:lnTo>
                <a:lnTo>
                  <a:pt x="0" y="19050"/>
                </a:lnTo>
                <a:lnTo>
                  <a:pt x="6210300" y="19050"/>
                </a:lnTo>
                <a:lnTo>
                  <a:pt x="6210300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6725" y="4886325"/>
            <a:ext cx="6210300" cy="19050"/>
          </a:xfrm>
          <a:custGeom>
            <a:avLst/>
            <a:gdLst/>
            <a:ahLst/>
            <a:cxnLst/>
            <a:rect l="l" t="t" r="r" b="b"/>
            <a:pathLst>
              <a:path w="6210300" h="19050">
                <a:moveTo>
                  <a:pt x="6210300" y="0"/>
                </a:moveTo>
                <a:lnTo>
                  <a:pt x="0" y="0"/>
                </a:lnTo>
                <a:lnTo>
                  <a:pt x="0" y="19050"/>
                </a:lnTo>
                <a:lnTo>
                  <a:pt x="6210300" y="19050"/>
                </a:lnTo>
                <a:lnTo>
                  <a:pt x="6210300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pc="20" dirty="0"/>
              <a:t>Dynamic</a:t>
            </a:r>
            <a:r>
              <a:rPr spc="40" dirty="0"/>
              <a:t> </a:t>
            </a:r>
            <a:r>
              <a:rPr spc="20" dirty="0"/>
              <a:t>weighting</a:t>
            </a:r>
            <a:r>
              <a:rPr spc="40" dirty="0"/>
              <a:t> </a:t>
            </a:r>
            <a:r>
              <a:rPr spc="20" dirty="0"/>
              <a:t>strategy</a:t>
            </a:r>
            <a:r>
              <a:rPr spc="40" dirty="0"/>
              <a:t> </a:t>
            </a:r>
            <a:r>
              <a:rPr spc="45" dirty="0"/>
              <a:t>combines</a:t>
            </a:r>
            <a:r>
              <a:rPr spc="40" dirty="0"/>
              <a:t> </a:t>
            </a:r>
            <a:r>
              <a:rPr spc="20" dirty="0"/>
              <a:t>ARIMA</a:t>
            </a:r>
            <a:r>
              <a:rPr spc="40" dirty="0"/>
              <a:t> </a:t>
            </a:r>
            <a:r>
              <a:rPr spc="20" dirty="0"/>
              <a:t>and</a:t>
            </a:r>
            <a:r>
              <a:rPr spc="40" dirty="0"/>
              <a:t> </a:t>
            </a:r>
            <a:r>
              <a:rPr spc="90" dirty="0"/>
              <a:t>ML</a:t>
            </a:r>
            <a:r>
              <a:rPr spc="40" dirty="0"/>
              <a:t> </a:t>
            </a:r>
            <a:r>
              <a:rPr spc="20" dirty="0"/>
              <a:t>predictions</a:t>
            </a:r>
            <a:r>
              <a:rPr spc="40" dirty="0"/>
              <a:t> </a:t>
            </a:r>
            <a:r>
              <a:rPr spc="20" dirty="0"/>
              <a:t>for</a:t>
            </a:r>
            <a:r>
              <a:rPr spc="45" dirty="0"/>
              <a:t> </a:t>
            </a:r>
            <a:r>
              <a:rPr spc="20" dirty="0"/>
              <a:t>improved</a:t>
            </a:r>
            <a:r>
              <a:rPr spc="40" dirty="0"/>
              <a:t> </a:t>
            </a:r>
            <a:r>
              <a:rPr spc="-10" dirty="0"/>
              <a:t>robustness.</a:t>
            </a:r>
          </a:p>
          <a:p>
            <a:pPr marL="23495">
              <a:lnSpc>
                <a:spcPct val="100000"/>
              </a:lnSpc>
              <a:spcBef>
                <a:spcPts val="915"/>
              </a:spcBef>
            </a:pPr>
            <a:r>
              <a:rPr spc="-25" dirty="0">
                <a:latin typeface="Georgia"/>
                <a:cs typeface="Georgia"/>
              </a:rPr>
              <a:t>01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pc="-25" dirty="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</a:pPr>
            <a:r>
              <a:rPr sz="1350" b="1" spc="-90" dirty="0">
                <a:latin typeface="Georgia"/>
                <a:cs typeface="Georgia"/>
              </a:rPr>
              <a:t>Evaluate</a:t>
            </a:r>
            <a:r>
              <a:rPr sz="1350" b="1" spc="-10" dirty="0">
                <a:latin typeface="Georgia"/>
                <a:cs typeface="Georgia"/>
              </a:rPr>
              <a:t> Models</a:t>
            </a:r>
            <a:endParaRPr sz="135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705"/>
              </a:spcBef>
            </a:pPr>
            <a:r>
              <a:rPr dirty="0"/>
              <a:t>Test</a:t>
            </a:r>
            <a:r>
              <a:rPr spc="120" dirty="0"/>
              <a:t> </a:t>
            </a:r>
            <a:r>
              <a:rPr dirty="0"/>
              <a:t>both</a:t>
            </a:r>
            <a:r>
              <a:rPr spc="125" dirty="0"/>
              <a:t> </a:t>
            </a:r>
            <a:r>
              <a:rPr dirty="0"/>
              <a:t>models</a:t>
            </a:r>
            <a:r>
              <a:rPr spc="125" dirty="0"/>
              <a:t> </a:t>
            </a:r>
            <a:r>
              <a:rPr dirty="0"/>
              <a:t>on</a:t>
            </a:r>
            <a:r>
              <a:rPr spc="125" dirty="0"/>
              <a:t> </a:t>
            </a:r>
            <a:r>
              <a:rPr dirty="0"/>
              <a:t>recent</a:t>
            </a:r>
            <a:r>
              <a:rPr spc="120" dirty="0"/>
              <a:t> </a:t>
            </a:r>
            <a:r>
              <a:rPr dirty="0"/>
              <a:t>validation</a:t>
            </a:r>
            <a:r>
              <a:rPr spc="125" dirty="0"/>
              <a:t> </a:t>
            </a:r>
            <a:r>
              <a:rPr spc="-10" dirty="0"/>
              <a:t>window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pc="-10" dirty="0"/>
          </a:p>
          <a:p>
            <a:pPr marL="13335">
              <a:lnSpc>
                <a:spcPct val="100000"/>
              </a:lnSpc>
            </a:pPr>
            <a:r>
              <a:rPr spc="-25" dirty="0">
                <a:latin typeface="Georgia"/>
                <a:cs typeface="Georgia"/>
              </a:rPr>
              <a:t>02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pc="-25" dirty="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</a:pPr>
            <a:r>
              <a:rPr sz="1350" b="1" spc="-70" dirty="0">
                <a:latin typeface="Georgia"/>
                <a:cs typeface="Georgia"/>
              </a:rPr>
              <a:t>Calculate</a:t>
            </a:r>
            <a:r>
              <a:rPr sz="1350" b="1" dirty="0">
                <a:latin typeface="Georgia"/>
                <a:cs typeface="Georgia"/>
              </a:rPr>
              <a:t> </a:t>
            </a:r>
            <a:r>
              <a:rPr sz="1350" b="1" spc="-10" dirty="0">
                <a:latin typeface="Georgia"/>
                <a:cs typeface="Georgia"/>
              </a:rPr>
              <a:t>Errors</a:t>
            </a:r>
            <a:endParaRPr sz="135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705"/>
              </a:spcBef>
            </a:pPr>
            <a:r>
              <a:rPr spc="10" dirty="0"/>
              <a:t>Compute</a:t>
            </a:r>
            <a:r>
              <a:rPr spc="15" dirty="0"/>
              <a:t> </a:t>
            </a:r>
            <a:r>
              <a:rPr spc="60" dirty="0"/>
              <a:t>RMSE</a:t>
            </a:r>
            <a:r>
              <a:rPr spc="20" dirty="0"/>
              <a:t> </a:t>
            </a:r>
            <a:r>
              <a:rPr spc="10" dirty="0"/>
              <a:t>or</a:t>
            </a:r>
            <a:r>
              <a:rPr spc="20" dirty="0"/>
              <a:t> </a:t>
            </a:r>
            <a:r>
              <a:rPr spc="80" dirty="0"/>
              <a:t>MAE</a:t>
            </a:r>
            <a:r>
              <a:rPr spc="15" dirty="0"/>
              <a:t> </a:t>
            </a:r>
            <a:r>
              <a:rPr spc="10" dirty="0"/>
              <a:t>for</a:t>
            </a:r>
            <a:r>
              <a:rPr spc="20" dirty="0"/>
              <a:t> </a:t>
            </a:r>
            <a:r>
              <a:rPr spc="50" dirty="0"/>
              <a:t>each</a:t>
            </a:r>
            <a:r>
              <a:rPr spc="20" dirty="0"/>
              <a:t> </a:t>
            </a:r>
            <a:r>
              <a:rPr spc="-20" dirty="0"/>
              <a:t>model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pc="-20" dirty="0"/>
          </a:p>
          <a:p>
            <a:pPr marL="12700">
              <a:lnSpc>
                <a:spcPct val="100000"/>
              </a:lnSpc>
            </a:pPr>
            <a:r>
              <a:rPr spc="-25" dirty="0">
                <a:latin typeface="Georgia"/>
                <a:cs typeface="Georgia"/>
              </a:rPr>
              <a:t>03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pc="-25" dirty="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</a:pPr>
            <a:r>
              <a:rPr sz="1350" b="1" spc="-75" dirty="0">
                <a:latin typeface="Georgia"/>
                <a:cs typeface="Georgia"/>
              </a:rPr>
              <a:t>Assign</a:t>
            </a:r>
            <a:r>
              <a:rPr sz="1350" b="1" spc="-35" dirty="0">
                <a:latin typeface="Georgia"/>
                <a:cs typeface="Georgia"/>
              </a:rPr>
              <a:t> </a:t>
            </a:r>
            <a:r>
              <a:rPr sz="1350" b="1" spc="-10" dirty="0">
                <a:latin typeface="Georgia"/>
                <a:cs typeface="Georgia"/>
              </a:rPr>
              <a:t>Weights</a:t>
            </a:r>
            <a:endParaRPr sz="135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705"/>
              </a:spcBef>
            </a:pPr>
            <a:r>
              <a:rPr spc="10" dirty="0"/>
              <a:t>Weight</a:t>
            </a:r>
            <a:r>
              <a:rPr spc="90" dirty="0"/>
              <a:t> </a:t>
            </a:r>
            <a:r>
              <a:rPr spc="10" dirty="0"/>
              <a:t>inversely</a:t>
            </a:r>
            <a:r>
              <a:rPr spc="90" dirty="0"/>
              <a:t> </a:t>
            </a:r>
            <a:r>
              <a:rPr spc="10" dirty="0"/>
              <a:t>proportional</a:t>
            </a:r>
            <a:r>
              <a:rPr spc="100" dirty="0"/>
              <a:t> </a:t>
            </a:r>
            <a:r>
              <a:rPr spc="10" dirty="0"/>
              <a:t>to</a:t>
            </a:r>
            <a:r>
              <a:rPr spc="95" dirty="0"/>
              <a:t> </a:t>
            </a:r>
            <a:r>
              <a:rPr spc="-10" dirty="0"/>
              <a:t>errors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pc="-10" dirty="0"/>
          </a:p>
          <a:p>
            <a:pPr marL="15875">
              <a:lnSpc>
                <a:spcPct val="100000"/>
              </a:lnSpc>
            </a:pPr>
            <a:r>
              <a:rPr spc="-25" dirty="0">
                <a:latin typeface="Georgia"/>
                <a:cs typeface="Georgia"/>
              </a:rPr>
              <a:t>04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pc="-25" dirty="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350" b="1" spc="-90" dirty="0">
                <a:latin typeface="Georgia"/>
                <a:cs typeface="Georgia"/>
              </a:rPr>
              <a:t>Combine</a:t>
            </a:r>
            <a:r>
              <a:rPr sz="1350" b="1" spc="-20" dirty="0">
                <a:latin typeface="Georgia"/>
                <a:cs typeface="Georgia"/>
              </a:rPr>
              <a:t> </a:t>
            </a:r>
            <a:r>
              <a:rPr sz="1350" b="1" spc="-10" dirty="0">
                <a:latin typeface="Georgia"/>
                <a:cs typeface="Georgia"/>
              </a:rPr>
              <a:t>Predictions</a:t>
            </a:r>
            <a:endParaRPr sz="135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705"/>
              </a:spcBef>
            </a:pPr>
            <a:r>
              <a:rPr spc="20" dirty="0"/>
              <a:t>Fuse</a:t>
            </a:r>
            <a:r>
              <a:rPr spc="100" dirty="0"/>
              <a:t> </a:t>
            </a:r>
            <a:r>
              <a:rPr spc="20" dirty="0"/>
              <a:t>models</a:t>
            </a:r>
            <a:r>
              <a:rPr spc="105" dirty="0"/>
              <a:t> </a:t>
            </a:r>
            <a:r>
              <a:rPr spc="20" dirty="0"/>
              <a:t>using</a:t>
            </a:r>
            <a:r>
              <a:rPr spc="100" dirty="0"/>
              <a:t> </a:t>
            </a:r>
            <a:r>
              <a:rPr spc="20" dirty="0"/>
              <a:t>calculated</a:t>
            </a:r>
            <a:r>
              <a:rPr spc="105" dirty="0"/>
              <a:t> </a:t>
            </a:r>
            <a:r>
              <a:rPr spc="-10" dirty="0"/>
              <a:t>weights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Visualization</a:t>
            </a:r>
            <a:r>
              <a:rPr spc="-100" dirty="0"/>
              <a:t> </a:t>
            </a:r>
            <a:r>
              <a:rPr spc="-254" dirty="0"/>
              <a:t>and</a:t>
            </a:r>
            <a:r>
              <a:rPr spc="-90" dirty="0"/>
              <a:t> </a:t>
            </a:r>
            <a:r>
              <a:rPr spc="-295" dirty="0"/>
              <a:t>User</a:t>
            </a:r>
            <a:r>
              <a:rPr spc="-85" dirty="0"/>
              <a:t> </a:t>
            </a:r>
            <a:r>
              <a:rPr spc="-185" dirty="0"/>
              <a:t>Interface</a:t>
            </a:r>
          </a:p>
        </p:txBody>
      </p:sp>
      <p:sp>
        <p:nvSpPr>
          <p:cNvPr id="3" name="object 3"/>
          <p:cNvSpPr/>
          <p:nvPr/>
        </p:nvSpPr>
        <p:spPr>
          <a:xfrm>
            <a:off x="647700" y="2838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7700" y="3181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" y="3524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7700" y="38671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7466" y="2221769"/>
            <a:ext cx="3288029" cy="2788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spc="-100" dirty="0">
                <a:latin typeface="Georgia"/>
                <a:cs typeface="Georgia"/>
              </a:rPr>
              <a:t>Streamlit</a:t>
            </a:r>
            <a:r>
              <a:rPr sz="1800" b="1" spc="-40" dirty="0">
                <a:latin typeface="Georgia"/>
                <a:cs typeface="Georgia"/>
              </a:rPr>
              <a:t> </a:t>
            </a:r>
            <a:r>
              <a:rPr sz="1800" b="1" spc="-135" dirty="0">
                <a:latin typeface="Georgia"/>
                <a:cs typeface="Georgia"/>
              </a:rPr>
              <a:t>Dashboard</a:t>
            </a:r>
            <a:r>
              <a:rPr sz="1800" b="1" spc="-35" dirty="0">
                <a:latin typeface="Georgia"/>
                <a:cs typeface="Georgia"/>
              </a:rPr>
              <a:t> </a:t>
            </a:r>
            <a:r>
              <a:rPr sz="1800" b="1" spc="-10" dirty="0">
                <a:latin typeface="Georgia"/>
                <a:cs typeface="Georgia"/>
              </a:rPr>
              <a:t>Features</a:t>
            </a:r>
            <a:endParaRPr sz="1800">
              <a:latin typeface="Georgia"/>
              <a:cs typeface="Georgia"/>
            </a:endParaRPr>
          </a:p>
          <a:p>
            <a:pPr marL="295910" marR="5080">
              <a:lnSpc>
                <a:spcPct val="160700"/>
              </a:lnSpc>
              <a:spcBef>
                <a:spcPts val="819"/>
              </a:spcBef>
            </a:pP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Historical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revenue</a:t>
            </a:r>
            <a:r>
              <a:rPr sz="14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trend</a:t>
            </a:r>
            <a:r>
              <a:rPr sz="14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displays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Actual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262424"/>
                </a:solidFill>
                <a:latin typeface="Tahoma"/>
                <a:cs typeface="Tahoma"/>
              </a:rPr>
              <a:t>vs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predicted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comparisons </a:t>
            </a:r>
            <a:r>
              <a:rPr sz="1400" spc="105" dirty="0">
                <a:solidFill>
                  <a:srgbClr val="262424"/>
                </a:solidFill>
                <a:latin typeface="Tahoma"/>
                <a:cs typeface="Tahoma"/>
              </a:rPr>
              <a:t>30-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day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future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forecast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visualization </a:t>
            </a:r>
            <a:r>
              <a:rPr sz="1400" spc="80" dirty="0">
                <a:solidFill>
                  <a:srgbClr val="262424"/>
                </a:solidFill>
                <a:latin typeface="Tahoma"/>
                <a:cs typeface="Tahoma"/>
              </a:rPr>
              <a:t>Model</a:t>
            </a:r>
            <a:r>
              <a:rPr sz="1400" spc="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evaluation</a:t>
            </a:r>
            <a:r>
              <a:rPr sz="1400" spc="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metrics</a:t>
            </a:r>
            <a:endParaRPr sz="1400">
              <a:latin typeface="Tahoma"/>
              <a:cs typeface="Tahoma"/>
            </a:endParaRPr>
          </a:p>
          <a:p>
            <a:pPr marL="12700" marR="121285">
              <a:lnSpc>
                <a:spcPct val="131700"/>
              </a:lnSpc>
              <a:spcBef>
                <a:spcPts val="1310"/>
              </a:spcBef>
            </a:pP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Interactive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interface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makes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results </a:t>
            </a:r>
            <a:r>
              <a:rPr sz="1400" spc="70" dirty="0">
                <a:solidFill>
                  <a:srgbClr val="262424"/>
                </a:solidFill>
                <a:latin typeface="Tahoma"/>
                <a:cs typeface="Tahoma"/>
              </a:rPr>
              <a:t>accessible</a:t>
            </a:r>
            <a:r>
              <a:rPr sz="14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4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both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technical</a:t>
            </a:r>
            <a:r>
              <a:rPr sz="14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non- 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technical</a:t>
            </a:r>
            <a:r>
              <a:rPr sz="1400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262424"/>
                </a:solidFill>
                <a:latin typeface="Tahoma"/>
                <a:cs typeface="Tahoma"/>
              </a:rPr>
              <a:t>users.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562099"/>
            <a:ext cx="6467474" cy="37147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67200" y="2934725"/>
            <a:ext cx="5029200" cy="57579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50" b="1" spc="-380" dirty="0">
                <a:latin typeface="Georgia"/>
                <a:cs typeface="Georgia"/>
              </a:rPr>
              <a:t>THANK</a:t>
            </a:r>
            <a:r>
              <a:rPr sz="3650" b="1" spc="-114" dirty="0">
                <a:latin typeface="Georgia"/>
                <a:cs typeface="Georgia"/>
              </a:rPr>
              <a:t> </a:t>
            </a:r>
            <a:r>
              <a:rPr sz="3650" b="1" spc="-425" dirty="0">
                <a:latin typeface="Georgia"/>
                <a:cs typeface="Georgia"/>
              </a:rPr>
              <a:t>YOU</a:t>
            </a:r>
            <a:endParaRPr sz="3650" dirty="0">
              <a:latin typeface="Georgia"/>
              <a:cs typeface="Georg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87224-30BD-A0E5-BBF3-A15EF8F3272B}"/>
              </a:ext>
            </a:extLst>
          </p:cNvPr>
          <p:cNvSpPr txBox="1"/>
          <p:nvPr/>
        </p:nvSpPr>
        <p:spPr>
          <a:xfrm>
            <a:off x="838200" y="4594225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RAJESH M</a:t>
            </a:r>
          </a:p>
          <a:p>
            <a:r>
              <a:rPr lang="en-US" b="1" dirty="0"/>
              <a:t>C KAILASH ESWAR</a:t>
            </a:r>
          </a:p>
          <a:p>
            <a:r>
              <a:rPr lang="en-US" b="1" dirty="0"/>
              <a:t>MANASA MAGANTI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426</Words>
  <Application>Microsoft Office PowerPoint</Application>
  <PresentationFormat>Custom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Georgia</vt:lpstr>
      <vt:lpstr>Tahoma</vt:lpstr>
      <vt:lpstr>Times New Roman</vt:lpstr>
      <vt:lpstr>Office Theme</vt:lpstr>
      <vt:lpstr>Revenue Forecasting Using an Adaptive Hybrid Time Series Framework</vt:lpstr>
      <vt:lpstr>Project Objectives</vt:lpstr>
      <vt:lpstr>Dataset Overview</vt:lpstr>
      <vt:lpstr>Baseline Forecasting Model</vt:lpstr>
      <vt:lpstr>ARIMA: Statistical Time Series Model</vt:lpstr>
      <vt:lpstr>Machine Learning Regression Model</vt:lpstr>
      <vt:lpstr>Trend Regime Detection</vt:lpstr>
      <vt:lpstr>Adaptive Hybrid Forecasting</vt:lpstr>
      <vt:lpstr>Visualization and User Interface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Manasa Maganti</cp:lastModifiedBy>
  <cp:revision>1</cp:revision>
  <dcterms:created xsi:type="dcterms:W3CDTF">2026-02-04T13:17:02Z</dcterms:created>
  <dcterms:modified xsi:type="dcterms:W3CDTF">2026-02-04T13:25:04Z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2026-02-04T00:00:00Z</vt:filetime>
  </property>
  <property fmtid="{D5CDD505-2E9C-101B-9397-08002B2CF9AE}" pid="5" name="Producer">
    <vt:lpwstr>GPL Ghostscript 9.56.1</vt:lpwstr>
  </property>
</Properties>
</file>